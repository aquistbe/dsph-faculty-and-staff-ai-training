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0600" y="838200"/>
            <a:ext cx="3442246" cy="900113"/>
          </a:xfrm>
          <a:prstGeom prst="roundRect">
            <a:avLst>
              <a:gd name="adj" fmla="val 1058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09650"/>
            <a:ext cx="32835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5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Drexel University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219200" y="1347788"/>
            <a:ext cx="32835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b="1" spc="51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14700498" y="838200"/>
            <a:ext cx="2596902" cy="571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9FB3CC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Department of Environmental &amp; Occupational Health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90600" y="4819650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spc="288" kern="0" dirty="0">
                <a:solidFill>
                  <a:srgbClr val="FFC60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AI WORKSHOPS FOR DSPH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276850"/>
            <a:ext cx="16796004" cy="2019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Workflow Enhancement</a:t>
            </a:r>
            <a:endParaRPr lang="en-US" sz="7800" dirty="0"/>
          </a:p>
        </p:txBody>
      </p:sp>
      <p:sp>
        <p:nvSpPr>
          <p:cNvPr id="8" name="Shape 6"/>
          <p:cNvSpPr/>
          <p:nvPr/>
        </p:nvSpPr>
        <p:spPr>
          <a:xfrm>
            <a:off x="990600" y="7581900"/>
            <a:ext cx="857250" cy="5715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990600" y="7905750"/>
            <a:ext cx="11251853" cy="438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250" dirty="0">
                <a:solidFill>
                  <a:srgbClr val="DBE4E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Use ChatGPT Edu, Copilot Chat, and Microsoft 365 Copilot to speed up the work you already do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90600" y="8820150"/>
            <a:ext cx="644087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Alex Quistberg, PhD, MPH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9153525"/>
            <a:ext cx="64408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9FB3CC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Associate Research Professor · Department of Environmental &amp; Occupational Health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4360262" y="9153525"/>
            <a:ext cx="2937138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725" dirty="0">
                <a:solidFill>
                  <a:srgbClr val="9FB3CC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Workshop 2 · July 7, 2026</a:t>
            </a:r>
            <a:endParaRPr lang="en-US" sz="17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685800"/>
            <a:ext cx="1810512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spc="264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WHAT YOU'LL LEAVE WITH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81051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 &amp; Objectives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1813471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4397573"/>
            <a:ext cx="476250" cy="476250"/>
          </a:xfrm>
          <a:prstGeom prst="ellipse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876300" y="4397573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4459486"/>
            <a:ext cx="7459980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Spot which recurring tasks are good candidates for AI.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5045273"/>
            <a:ext cx="476250" cy="476250"/>
          </a:xfrm>
          <a:prstGeom prst="ellipse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76300" y="5045273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00200" y="5107186"/>
            <a:ext cx="7914442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Use Microsoft 365 Copilot in Word, Outlook, and Excel.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5692973"/>
            <a:ext cx="476250" cy="476250"/>
          </a:xfrm>
          <a:prstGeom prst="ellipse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76300" y="5692973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5754886"/>
            <a:ext cx="758734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Use ChatGPT Edu and Copilot Chat to work faster.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340673"/>
            <a:ext cx="476250" cy="476250"/>
          </a:xfrm>
          <a:prstGeom prst="ellipse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76300" y="6340673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6402586"/>
            <a:ext cx="777823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Build a small prompt recipe you can reuse.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14400" y="6988373"/>
            <a:ext cx="476250" cy="476250"/>
          </a:xfrm>
          <a:prstGeom prst="ellipse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876300" y="6988373"/>
            <a:ext cx="552450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600200" y="7050286"/>
            <a:ext cx="7495669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Verify, disclose, and avoid over-reliance on AI.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677400"/>
            <a:ext cx="1645920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914400" y="9801225"/>
            <a:ext cx="3496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24" kern="0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Environmental &amp; Occupational Health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5142666" y="9801225"/>
            <a:ext cx="245402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52400" cy="1028700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3499545"/>
            <a:ext cx="177698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spc="420" kern="0" dirty="0">
                <a:solidFill>
                  <a:srgbClr val="FFC60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SECTION 01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43000" y="4013895"/>
            <a:ext cx="16639032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AI Fits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1143000" y="5976045"/>
            <a:ext cx="7992695" cy="8495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250" dirty="0">
                <a:solidFill>
                  <a:srgbClr val="DBE4E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biggest time savings come from the repetitive middle of a task.</a:t>
            </a:r>
            <a:endParaRPr lang="en-US" sz="2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685800"/>
            <a:ext cx="1810512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spc="264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WHICH TOOL, WHEN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81051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Tools, Three Jobs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1813471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184946"/>
            <a:ext cx="5321201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9667875"/>
            <a:ext cx="5321201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2184946"/>
            <a:ext cx="5321201" cy="38100"/>
          </a:xfrm>
          <a:prstGeom prst="rect">
            <a:avLst/>
          </a:prstGeom>
          <a:solidFill>
            <a:srgbClr val="0729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14400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26076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90625" y="2470696"/>
            <a:ext cx="5245626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365 Copilot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1190625" y="2869704"/>
            <a:ext cx="4911813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Best when the work is already in a Microsoft file — a Word doc to rewrite, an Outlook thread to summarize, an Excel sheet to analyze.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6483251" y="2184946"/>
            <a:ext cx="5321350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83251" y="9667875"/>
            <a:ext cx="532135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83251" y="2184946"/>
            <a:ext cx="5321350" cy="38100"/>
          </a:xfrm>
          <a:prstGeom prst="rect">
            <a:avLst/>
          </a:prstGeom>
          <a:solidFill>
            <a:srgbClr val="00669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83251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795075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759476" y="2470696"/>
            <a:ext cx="524579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Copilot Chat (EDP)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6759476" y="2869704"/>
            <a:ext cx="491196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Useful for protected web-based drafting, summarizing, and brainstorming when you don’t need a reusable GPT.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52250" y="2184946"/>
            <a:ext cx="5321350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2052250" y="9667875"/>
            <a:ext cx="532135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2052250" y="2184946"/>
            <a:ext cx="5321350" cy="3810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2052250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7364075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2328475" y="2470696"/>
            <a:ext cx="524579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 Edu</a:t>
            </a:r>
            <a:endParaRPr lang="en-US" sz="2175" dirty="0"/>
          </a:p>
        </p:txBody>
      </p:sp>
      <p:sp>
        <p:nvSpPr>
          <p:cNvPr id="25" name="Text 23"/>
          <p:cNvSpPr/>
          <p:nvPr/>
        </p:nvSpPr>
        <p:spPr>
          <a:xfrm>
            <a:off x="12328475" y="2869704"/>
            <a:ext cx="491196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Best for open-ended drafting, summarizing pasted text, file analysis, and reusable assistants. Use GPT-5.5 when available.</a:t>
            </a:r>
            <a:endParaRPr lang="en-US" sz="1725" dirty="0"/>
          </a:p>
        </p:txBody>
      </p:sp>
      <p:sp>
        <p:nvSpPr>
          <p:cNvPr id="26" name="Shape 24"/>
          <p:cNvSpPr/>
          <p:nvPr/>
        </p:nvSpPr>
        <p:spPr>
          <a:xfrm>
            <a:off x="914400" y="9677400"/>
            <a:ext cx="1645920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9801225"/>
            <a:ext cx="3496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24" kern="0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Environmental &amp; Occupational Health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142666" y="9801225"/>
            <a:ext cx="245402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685800"/>
            <a:ext cx="1810512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spc="264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FIND YOUR CANDIDATES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81051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a Good AI Task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1813471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184946"/>
            <a:ext cx="9809217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AI handles the first draft, the summary, the reformat, the “make this clearer.” You bring the judgment and the final word.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982028" y="3513683"/>
            <a:ext cx="9532084" cy="1385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Text-heavy — the work is mostly writing or reading.</a:t>
            </a:r>
            <a:endParaRPr lang="en-US" sz="2025" dirty="0"/>
          </a:p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Repeated — something you do over and over.</a:t>
            </a:r>
            <a:endParaRPr lang="en-US" sz="2025" dirty="0"/>
          </a:p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Low-stakes enough that a draft-plus-review is fine: status updates, recaps, first drafts.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14400" y="9677400"/>
            <a:ext cx="1645920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9801225"/>
            <a:ext cx="3496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24" kern="0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Environmental &amp; Occupational Health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142666" y="9801225"/>
            <a:ext cx="245402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52400" cy="1028700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3499545"/>
            <a:ext cx="177698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spc="420" kern="0" dirty="0">
                <a:solidFill>
                  <a:srgbClr val="FFC60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SECTION 02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43000" y="4013895"/>
            <a:ext cx="16639032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Ethics &amp; Governance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1143000" y="5976045"/>
            <a:ext cx="7992695" cy="8495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250" dirty="0">
                <a:solidFill>
                  <a:srgbClr val="DBE4E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Verification, disclosure, and over-reliance — what accountability means in daily work.</a:t>
            </a:r>
            <a:endParaRPr lang="en-US" sz="2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685800"/>
            <a:ext cx="1810512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spc="264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WORKFLOW ETHICS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81051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Habits That Keep You Safe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1813471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184946"/>
            <a:ext cx="5321201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9667875"/>
            <a:ext cx="5321201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2184946"/>
            <a:ext cx="5321201" cy="38100"/>
          </a:xfrm>
          <a:prstGeom prst="rect">
            <a:avLst/>
          </a:prstGeom>
          <a:solidFill>
            <a:srgbClr val="0729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14400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26076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90625" y="2470696"/>
            <a:ext cx="5245626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 Before It Counts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1190625" y="2869704"/>
            <a:ext cx="4911813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AI can fabricate facts, stats, and citations. Check anything going into a real document or decision against the source.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6483251" y="2184946"/>
            <a:ext cx="5321350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83251" y="9667875"/>
            <a:ext cx="532135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83251" y="2184946"/>
            <a:ext cx="5321350" cy="38100"/>
          </a:xfrm>
          <a:prstGeom prst="rect">
            <a:avLst/>
          </a:prstGeom>
          <a:solidFill>
            <a:srgbClr val="00669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83251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795075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759476" y="2470696"/>
            <a:ext cx="524579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Disclose Appropriately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6759476" y="2869704"/>
            <a:ext cx="491196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Where AI informs a real decision or document, note that it was used and verify what matters.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52250" y="2184946"/>
            <a:ext cx="5321350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2052250" y="9667875"/>
            <a:ext cx="532135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2052250" y="2184946"/>
            <a:ext cx="5321350" cy="3810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2052250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7364075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2328475" y="2470696"/>
            <a:ext cx="524579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Avoid Over-Reliance</a:t>
            </a:r>
            <a:endParaRPr lang="en-US" sz="2175" dirty="0"/>
          </a:p>
        </p:txBody>
      </p:sp>
      <p:sp>
        <p:nvSpPr>
          <p:cNvPr id="25" name="Text 23"/>
          <p:cNvSpPr/>
          <p:nvPr/>
        </p:nvSpPr>
        <p:spPr>
          <a:xfrm>
            <a:off x="12328475" y="2869704"/>
            <a:ext cx="491196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Speed is the selling point and the trap. Keep your own judgment in the loop; don’t outsource the thinking.</a:t>
            </a:r>
            <a:endParaRPr lang="en-US" sz="1725" dirty="0"/>
          </a:p>
        </p:txBody>
      </p:sp>
      <p:sp>
        <p:nvSpPr>
          <p:cNvPr id="26" name="Shape 24"/>
          <p:cNvSpPr/>
          <p:nvPr/>
        </p:nvSpPr>
        <p:spPr>
          <a:xfrm>
            <a:off x="914400" y="9677400"/>
            <a:ext cx="1645920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9801225"/>
            <a:ext cx="3496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24" kern="0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Environmental &amp; Occupational Health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142666" y="9801225"/>
            <a:ext cx="245402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143000" y="3522315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3912840"/>
            <a:ext cx="7803838" cy="1889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4050" dirty="0">
                <a:solidFill>
                  <a:srgbClr val="FFC6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 </a:t>
            </a:r>
            <a:pPr algn="l" indent="0" marL="0">
              <a:lnSpc>
                <a:spcPct val="120000"/>
              </a:lnSpc>
              <a:buNone/>
            </a:pPr>
            <a:r>
              <a:rPr lang="en-US" sz="4050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If you can’t open it, you can’t cite it.</a:t>
            </a:r>
            <a:pPr algn="l" indent="0" marL="0">
              <a:lnSpc>
                <a:spcPct val="120000"/>
              </a:lnSpc>
              <a:buNone/>
            </a:pPr>
            <a:r>
              <a:rPr lang="en-US" sz="4050" dirty="0">
                <a:solidFill>
                  <a:srgbClr val="FFC6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4050" dirty="0"/>
          </a:p>
        </p:txBody>
      </p:sp>
      <p:sp>
        <p:nvSpPr>
          <p:cNvPr id="4" name="Text 2"/>
          <p:cNvSpPr/>
          <p:nvPr/>
        </p:nvSpPr>
        <p:spPr>
          <a:xfrm>
            <a:off x="1143000" y="6107311"/>
            <a:ext cx="1760220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 rule worth keeping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1143000" y="6450211"/>
            <a:ext cx="363258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Treat every AI-supplied figure as unverified until you’ve confirmed it</a:t>
            </a:r>
            <a:endParaRPr lang="en-US" sz="1875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52400" cy="1028700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143000" y="3499545"/>
            <a:ext cx="177698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100" b="1" spc="420" kern="0" dirty="0">
                <a:solidFill>
                  <a:srgbClr val="FFC60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SECTION 03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1143000" y="4013895"/>
            <a:ext cx="16639032" cy="1714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1143000" y="5976045"/>
            <a:ext cx="7992695" cy="8495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2000"/>
              </a:lnSpc>
              <a:buNone/>
            </a:pPr>
            <a:r>
              <a:rPr lang="en-US" sz="2250" dirty="0">
                <a:solidFill>
                  <a:srgbClr val="DBE4E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Use Copilot where your work lives, then run one real task in ChatGPT Edu.</a:t>
            </a:r>
            <a:endParaRPr lang="en-US" sz="2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685800"/>
            <a:ext cx="1810512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spc="264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ACTIVITY 1 · ~19 MIN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81051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Microsoft 365 Copilot in Office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1813471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914400" y="2184946"/>
            <a:ext cx="5321201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914400" y="9667875"/>
            <a:ext cx="5321201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14400" y="2184946"/>
            <a:ext cx="5321201" cy="38100"/>
          </a:xfrm>
          <a:prstGeom prst="rect">
            <a:avLst/>
          </a:prstGeom>
          <a:solidFill>
            <a:srgbClr val="07294D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914400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226076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190625" y="2470696"/>
            <a:ext cx="5245626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A — Word</a:t>
            </a:r>
            <a:endParaRPr lang="en-US" sz="2175" dirty="0"/>
          </a:p>
        </p:txBody>
      </p:sp>
      <p:sp>
        <p:nvSpPr>
          <p:cNvPr id="11" name="Text 9"/>
          <p:cNvSpPr/>
          <p:nvPr/>
        </p:nvSpPr>
        <p:spPr>
          <a:xfrm>
            <a:off x="1190625" y="2869704"/>
            <a:ext cx="4911813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Summarize a document into key points, rewrite a paragraph for a specific audience, and draft a new section from one line.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6483251" y="2184946"/>
            <a:ext cx="5321350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83251" y="9667875"/>
            <a:ext cx="532135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83251" y="2184946"/>
            <a:ext cx="5321350" cy="38100"/>
          </a:xfrm>
          <a:prstGeom prst="rect">
            <a:avLst/>
          </a:prstGeom>
          <a:solidFill>
            <a:srgbClr val="006699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83251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795075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759476" y="2470696"/>
            <a:ext cx="524579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B — Outlook</a:t>
            </a:r>
            <a:endParaRPr lang="en-US" sz="2175" dirty="0"/>
          </a:p>
        </p:txBody>
      </p:sp>
      <p:sp>
        <p:nvSpPr>
          <p:cNvPr id="18" name="Text 16"/>
          <p:cNvSpPr/>
          <p:nvPr/>
        </p:nvSpPr>
        <p:spPr>
          <a:xfrm>
            <a:off x="6759476" y="2869704"/>
            <a:ext cx="491196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Summarize a long thread and list decisions and action items, then draft a reply in a tone you specify.</a:t>
            </a:r>
            <a:endParaRPr lang="en-US" sz="1725" dirty="0"/>
          </a:p>
        </p:txBody>
      </p:sp>
      <p:sp>
        <p:nvSpPr>
          <p:cNvPr id="19" name="Shape 17"/>
          <p:cNvSpPr/>
          <p:nvPr/>
        </p:nvSpPr>
        <p:spPr>
          <a:xfrm>
            <a:off x="12052250" y="2184946"/>
            <a:ext cx="5321350" cy="7492454"/>
          </a:xfrm>
          <a:prstGeom prst="roundRect">
            <a:avLst>
              <a:gd name="adj" fmla="val 14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8575" dist="9525" dir="5400000">
              <a:srgbClr val="07294D">
                <a:alpha val="9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12052250" y="9667875"/>
            <a:ext cx="532135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12052250" y="2184946"/>
            <a:ext cx="5321350" cy="3810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12052250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17364075" y="2184946"/>
            <a:ext cx="9525" cy="7492454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2328475" y="2470696"/>
            <a:ext cx="5245790" cy="3418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75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C — Excel</a:t>
            </a:r>
            <a:endParaRPr lang="en-US" sz="2175" dirty="0"/>
          </a:p>
        </p:txBody>
      </p:sp>
      <p:sp>
        <p:nvSpPr>
          <p:cNvPr id="25" name="Text 23"/>
          <p:cNvSpPr/>
          <p:nvPr/>
        </p:nvSpPr>
        <p:spPr>
          <a:xfrm>
            <a:off x="12328475" y="2869704"/>
            <a:ext cx="4911967" cy="651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725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Summarize what’s in the data, ask for a formula in plain language, and surface a trend or suggested chart.</a:t>
            </a:r>
            <a:endParaRPr lang="en-US" sz="1725" dirty="0"/>
          </a:p>
        </p:txBody>
      </p:sp>
      <p:sp>
        <p:nvSpPr>
          <p:cNvPr id="26" name="Shape 24"/>
          <p:cNvSpPr/>
          <p:nvPr/>
        </p:nvSpPr>
        <p:spPr>
          <a:xfrm>
            <a:off x="914400" y="9677400"/>
            <a:ext cx="1645920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914400" y="9801225"/>
            <a:ext cx="3496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24" kern="0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Environmental &amp; Occupational Health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5142666" y="9801225"/>
            <a:ext cx="245402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685800"/>
            <a:ext cx="1810512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spc="264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ACTIVITY 2 · ~13 MIN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81051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ChatGPT Edu for Your Real Task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1813471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184946"/>
            <a:ext cx="9809217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Run one task you actually need this week, start to finish. Write a PTCF prompt, iterate 2–3 rounds, then do the final edit yourself.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982028" y="3513683"/>
            <a:ext cx="9532084" cy="1385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Summarize-then-act — “Summarize this, then draft a 3-sentence email about what the team needs to do.”</a:t>
            </a:r>
            <a:endParaRPr lang="en-US" sz="2025" dirty="0"/>
          </a:p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Make-it-a-table — for options, pros and cons, or a schedule, add “Put this in a table.”</a:t>
            </a:r>
            <a:endParaRPr lang="en-US" sz="2025" dirty="0"/>
          </a:p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Build a reusable recipe — strip the specifics, leave placeholders, and save what worked.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14400" y="9677400"/>
            <a:ext cx="1645920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9801225"/>
            <a:ext cx="3496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24" kern="0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Environmental &amp; Occupational Health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142666" y="9801225"/>
            <a:ext cx="245402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914400" y="685800"/>
            <a:ext cx="18105120" cy="247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50" b="1" spc="264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WRAP-UP</a:t>
            </a:r>
            <a:endParaRPr lang="en-US" sz="1650" dirty="0"/>
          </a:p>
        </p:txBody>
      </p:sp>
      <p:sp>
        <p:nvSpPr>
          <p:cNvPr id="3" name="Text 1"/>
          <p:cNvSpPr/>
          <p:nvPr/>
        </p:nvSpPr>
        <p:spPr>
          <a:xfrm>
            <a:off x="914400" y="1028700"/>
            <a:ext cx="18105120" cy="632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50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Take Away</a:t>
            </a:r>
            <a:endParaRPr lang="en-US" sz="4500" dirty="0"/>
          </a:p>
        </p:txBody>
      </p:sp>
      <p:sp>
        <p:nvSpPr>
          <p:cNvPr id="4" name="Shape 2"/>
          <p:cNvSpPr/>
          <p:nvPr/>
        </p:nvSpPr>
        <p:spPr>
          <a:xfrm>
            <a:off x="914400" y="1813471"/>
            <a:ext cx="609600" cy="47625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914400" y="2184946"/>
            <a:ext cx="9809217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Microsoft 365 Copilot for work inside Office files; Copilot Chat for protected web chat; ChatGPT Edu for open drafting and reusable assistants.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982028" y="3513683"/>
            <a:ext cx="9532084" cy="13858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The win is the first draft and the summary — you keep the judgment.</a:t>
            </a:r>
            <a:endParaRPr lang="en-US" sz="2025" dirty="0"/>
          </a:p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Save the prompts that work as reusable recipes.</a:t>
            </a:r>
            <a:endParaRPr lang="en-US" sz="2025" dirty="0"/>
          </a:p>
          <a:p>
            <a:pPr algn="l" marL="180023" indent="-180023">
              <a:lnSpc>
                <a:spcPct val="150000"/>
              </a:lnSpc>
              <a:buSzPct val="100000"/>
              <a:buChar char="•"/>
              <a:tabLst>
                <a:tab pos="180023" algn="l"/>
              </a:tabLst>
            </a:pPr>
            <a:r>
              <a:rPr lang="en-US" sz="2025" dirty="0">
                <a:solidFill>
                  <a:srgbClr val="1C253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Before Workshop 3: save two prompt recipes you’d actually reuse.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914400" y="9677400"/>
            <a:ext cx="16459200" cy="9525"/>
          </a:xfrm>
          <a:prstGeom prst="rect">
            <a:avLst/>
          </a:prstGeom>
          <a:solidFill>
            <a:srgbClr val="D0D3D4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14400" y="9801225"/>
            <a:ext cx="3496702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b="1" spc="24" kern="0" dirty="0">
                <a:solidFill>
                  <a:srgbClr val="07294D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Environmental &amp; Occupational Health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5142666" y="9801225"/>
            <a:ext cx="2454027" cy="2381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5A6571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990600" y="838200"/>
            <a:ext cx="3442246" cy="900113"/>
          </a:xfrm>
          <a:prstGeom prst="roundRect">
            <a:avLst>
              <a:gd name="adj" fmla="val 10582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1219200" y="1009650"/>
            <a:ext cx="3283550" cy="3381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250" b="1" dirty="0">
                <a:solidFill>
                  <a:srgbClr val="0729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Drexel University</a:t>
            </a:r>
            <a:endParaRPr lang="en-US" sz="2250" dirty="0"/>
          </a:p>
        </p:txBody>
      </p:sp>
      <p:sp>
        <p:nvSpPr>
          <p:cNvPr id="4" name="Text 2"/>
          <p:cNvSpPr/>
          <p:nvPr/>
        </p:nvSpPr>
        <p:spPr>
          <a:xfrm>
            <a:off x="1219200" y="1347788"/>
            <a:ext cx="3283550" cy="2571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275" b="1" spc="51" kern="0" dirty="0">
                <a:solidFill>
                  <a:srgbClr val="006699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Dornsife School of Public Health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990600" y="5026819"/>
            <a:ext cx="1793748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spc="288" kern="0" dirty="0">
                <a:solidFill>
                  <a:srgbClr val="FFC600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5484019"/>
            <a:ext cx="16796004" cy="182552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Discussion</a:t>
            </a:r>
            <a:endParaRPr lang="en-US" sz="6900" dirty="0"/>
          </a:p>
        </p:txBody>
      </p:sp>
      <p:sp>
        <p:nvSpPr>
          <p:cNvPr id="7" name="Shape 5"/>
          <p:cNvSpPr/>
          <p:nvPr/>
        </p:nvSpPr>
        <p:spPr>
          <a:xfrm>
            <a:off x="990600" y="7595295"/>
            <a:ext cx="857250" cy="57150"/>
          </a:xfrm>
          <a:prstGeom prst="rect">
            <a:avLst/>
          </a:prstGeom>
          <a:solidFill>
            <a:srgbClr val="FFC600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990600" y="7919145"/>
            <a:ext cx="9053215" cy="4247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DBE4E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Next: Workshop 3 — Collaboration on Projects. Shared Projects, custom GPTs, and a team prompt library.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90600" y="8820150"/>
            <a:ext cx="3625379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Alex Quistberg, PhD, MPH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90600" y="9153525"/>
            <a:ext cx="362537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725" dirty="0">
                <a:solidFill>
                  <a:srgbClr val="9FB3CC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daq26@drexel.edu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14311713" y="8858250"/>
            <a:ext cx="2985687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buNone/>
            </a:pPr>
            <a:r>
              <a:rPr lang="en-US" sz="1725" dirty="0">
                <a:solidFill>
                  <a:srgbClr val="9FB3CC"/>
                </a:solidFill>
                <a:latin typeface="Futura" pitchFamily="34" charset="0"/>
                <a:ea typeface="Futura" pitchFamily="34" charset="-122"/>
                <a:cs typeface="Futura" pitchFamily="34" charset="-120"/>
              </a:rPr>
              <a:t>Department of Environmental &amp; Occupational Health</a:t>
            </a:r>
            <a:endParaRPr lang="en-US" sz="17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2026-06-26T14:52:04Z</dcterms:created>
  <dcterms:modified xsi:type="dcterms:W3CDTF">2026-06-26T14:52:04Z</dcterms:modified>
</cp:coreProperties>
</file>