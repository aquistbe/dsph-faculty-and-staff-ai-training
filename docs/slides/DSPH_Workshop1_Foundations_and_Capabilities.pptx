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70" r:id="rId21"/>
    <p:sldId id="271" r:id="rId22"/>
    <p:sldId id="272" r:id="rId23"/>
    <p:sldId id="273" r:id="rId24"/>
    <p:sldId id="274" r:id="rId25"/>
    <p:sldId id="276" r:id="rId27"/>
    <p:sldId id="275" r:id="rId26"/>
    <p:sldId id="262" r:id="rId8"/>
    <p:sldId id="263" r:id="rId9"/>
    <p:sldId id="264" r:id="rId10"/>
    <p:sldId id="265" r:id="rId11"/>
    <p:sldId id="266" r:id="rId12"/>
    <p:sldId id="267" r:id="rId13"/>
    <p:sldId id="268" r:id="rId14"/>
    <p:sldId id="269" r:id="rId15"/>
  </p:sldIdLst>
  <p:notesMasterIdLst>
    <p:notesMasterId r:id="rId1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3.xml"/><Relationship Id="rId9" Type="http://schemas.openxmlformats.org/officeDocument/2006/relationships/slide" Target="slides/slide14.xml"/><Relationship Id="rId10" Type="http://schemas.openxmlformats.org/officeDocument/2006/relationships/slide" Target="slides/slide15.xml"/><Relationship Id="rId11" Type="http://schemas.openxmlformats.org/officeDocument/2006/relationships/slide" Target="slides/slide16.xml"/><Relationship Id="rId12" Type="http://schemas.openxmlformats.org/officeDocument/2006/relationships/slide" Target="slides/slide17.xml"/><Relationship Id="rId13" Type="http://schemas.openxmlformats.org/officeDocument/2006/relationships/slide" Target="slides/slide18.xml"/><Relationship Id="rId14" Type="http://schemas.openxmlformats.org/officeDocument/2006/relationships/slide" Target="slides/slide19.xml"/><Relationship Id="rId15" Type="http://schemas.openxmlformats.org/officeDocument/2006/relationships/slide" Target="slides/slide20.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experience needed. If you have never opened ChatGPT, you are in the right room. By the end of the hour, everyone will have used ChatGPT Edu for a real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goals for the hour. The point is one safe, useful habit started, not every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tools write by predicting what words come next. That makes them good at drafts and summaries. It also means they can sound sure of themselves and still be wrong. You are the quality check. Do not explain model architecture, training, or tokens. If asked, give a one-sentence answer and offer to talk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term and definition aloud. Hallucination is the one that matters most for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Drexel work, use ChatGPT Edu or Copilot Chat, signed in with your Drexel account. Personal accounts and other tools are for public information only. The rule: no health information about a person, no student records, no Social Security numbers, no identifiable research data. When in doubt, make the details up. Point to the Tools &amp; Access page for the full list; do not walk through every tool and data classification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can invent facts and citations. Check anything that matters. It learned from writing that reflects society's inequities, so it can repeat stereotypes. In public health our work affects real communities. If your name is on it, you own it. 'The AI wrote it' is never the answer. Core 4 covers verification and disclosure in depth; the Bias &amp; Equity Audit track covers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each step on your shared screen and pause. Ask people to react with a thumbs-up in Zoom when they have finished a step. Steps 4 and 6 teach the most important idea: a chat remembers earlier messages, and a new chat starts fresh. Backup if sign-in fails: Copilot Chat with a Drexel account. Ask people who are stuck to say so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Participants copy the three prompts from the Core 1 workshop page, then try one follow-up. The goal is one successful answer per person. Prioritize people who have not gotten any response yet. If someone wants to use sensitive work content, have them make up a version with the same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short prompt and the full prompt on your shared screen so everyone sees the difference. Then ask everyone to write a PTCF prompt for a real email or short document they need this week, using made-up names and details. You don't need all four parts every time; adding even one or two helps. Ask people to paste their prompt in the Zoom chat, and read two or three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task to try before Core 2. Point to the feedback form at the bottom of the workshop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before you try it, here is what it can do on work like ours. About 8 minutes; one live demo.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 Upload demo-materials/Workshop1_Demo_RivertonPedCrashes.csv to ChatGPT Edu and paste the prompt on the slide. While it works: 'It is writing and running analysis code. You can click to see it.' Point to the flagged problems (6 missing speed limits, 3 rows with hour = 99). If it misses them, ask: 'Are there any missing or impossible values?' If the network fails, use this slide; it shows a real result from the same file.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'This is my draft, not the AI's. I ask it to act like a study section reviewer and to not rewrite anything.' The critique is real model output, trimmed. NIH will not review applications substantially developed by AI (NOT-OD-25-132). Use it to critique, not to write.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 mini-slides are an example. ChatGPT Edu can produce a PowerPoint file directly. It also works for updating last year's deck with new numbers.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Email triage is the easy win for staff. Citations: a model was asked for 5 LPI studies, gave 2, and declined to invent the rest. Fayish &amp; Gross 2010 (10.3141/2198-03) is correct. Van Houten et al. 2000: it gave 10.3141/1734-11, which resolves to a motorcycle helmet paper; correct is 10.3141/1734-13. 'Even a careful answer had a wrong citation.'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This section was built by an agentic tool working in my OneDrive folder. Stress the label: not Drexel-supported, low-risk data only. Everyone starts with ChatGPT Edu today.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'Even in ChatGPT Edu, I don't upload names. I swap names for IDs in Excel, upload only what matters for grouping, and match the names back myself.' Point to 'check each rule' in the prompt and tell them to count anyway. Roster is fabricated (demo-materials/Workshop1_Demo_AnonymizedRoster.csv); the groups shown meet all three rules.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94D"/>
        </a:solidFill>
      </p:bgPr>
    </p:bg>
    <p:spTree>
      <p:nvGrpSpPr>
        <p:cNvPr id="1" name=""/>
        <p:cNvGrpSpPr/>
        <p:nvPr/>
      </p:nvGrpSpPr>
      <p:grpSpPr>
        <a:xfrm>
          <a:off x="0" y="0"/>
          <a:ext cx="0" cy="0"/>
          <a:chOff x="0" y="0"/>
          <a:chExt cx="0" cy="0"/>
        </a:xfrm>
      </p:grpSpPr>
      <p:sp>
        <p:nvSpPr>
          <p:cNvPr id="2" name="Shape 0"/>
          <p:cNvSpPr/>
          <p:nvPr/>
        </p:nvSpPr>
        <p:spPr>
          <a:xfrm>
            <a:off x="1028700" y="859536"/>
            <a:ext cx="4480560" cy="1005840"/>
          </a:xfrm>
          <a:prstGeom prst="roundRect">
            <a:avLst>
              <a:gd name="adj" fmla="val 10909"/>
            </a:avLst>
          </a:prstGeom>
          <a:solidFill>
            <a:srgbClr val="FFFFFF"/>
          </a:solidFill>
          <a:ln/>
        </p:spPr>
      </p:sp>
      <p:sp>
        <p:nvSpPr>
          <p:cNvPr id="3" name="Text 1"/>
          <p:cNvSpPr txBox="1"/>
          <p:nvPr/>
        </p:nvSpPr>
        <p:spPr>
          <a:xfrm>
            <a:off x="1339596" y="987552"/>
            <a:ext cx="4023360" cy="384048"/>
          </a:xfrm>
          <a:prstGeom prst="rect">
            <a:avLst/>
          </a:prstGeom>
          <a:noFill/>
          <a:ln/>
        </p:spPr>
        <p:txBody>
          <a:bodyPr wrap="square" lIns="0" tIns="0" rIns="0" bIns="0" rtlCol="0" anchor="t"/>
          <a:lstStyle/>
          <a:p>
            <a:pPr indent="0" marL="0">
              <a:buNone/>
            </a:pPr>
            <a:r>
              <a:rPr lang="en-US" sz="2400" b="1" dirty="0">
                <a:solidFill>
                  <a:srgbClr val="07294D"/>
                </a:solidFill>
                <a:latin typeface="Georgia" pitchFamily="34" charset="0"/>
                <a:ea typeface="Georgia" pitchFamily="34" charset="-122"/>
                <a:cs typeface="Georgia" pitchFamily="34" charset="-120"/>
              </a:rPr>
              <a:t>Drexel University</a:t>
            </a:r>
            <a:endParaRPr lang="en-US" sz="2400" dirty="0"/>
          </a:p>
        </p:txBody>
      </p:sp>
      <p:sp>
        <p:nvSpPr>
          <p:cNvPr id="4" name="Text 2"/>
          <p:cNvSpPr txBox="1"/>
          <p:nvPr/>
        </p:nvSpPr>
        <p:spPr>
          <a:xfrm>
            <a:off x="1339596" y="1417320"/>
            <a:ext cx="4023360" cy="310896"/>
          </a:xfrm>
          <a:prstGeom prst="rect">
            <a:avLst/>
          </a:prstGeom>
          <a:noFill/>
          <a:ln/>
        </p:spPr>
        <p:txBody>
          <a:bodyPr wrap="square" lIns="0" tIns="0" rIns="0" bIns="0" rtlCol="0" anchor="t"/>
          <a:lstStyle/>
          <a:p>
            <a:pPr indent="0" marL="0">
              <a:buNone/>
            </a:pPr>
            <a:r>
              <a:rPr lang="en-US" sz="1600" b="1" dirty="0">
                <a:solidFill>
                  <a:srgbClr val="006699"/>
                </a:solidFill>
                <a:latin typeface="Futura" pitchFamily="34" charset="0"/>
                <a:ea typeface="Futura" pitchFamily="34" charset="-122"/>
                <a:cs typeface="Futura" pitchFamily="34" charset="-120"/>
              </a:rPr>
              <a:t>Dornsife School of Public Health</a:t>
            </a:r>
            <a:endParaRPr lang="en-US" sz="1600" dirty="0"/>
          </a:p>
        </p:txBody>
      </p:sp>
      <p:sp>
        <p:nvSpPr>
          <p:cNvPr id="5" name="Text 3"/>
          <p:cNvSpPr txBox="1"/>
          <p:nvPr/>
        </p:nvSpPr>
        <p:spPr>
          <a:xfrm>
            <a:off x="13624560" y="914400"/>
            <a:ext cx="3657600" cy="731520"/>
          </a:xfrm>
          <a:prstGeom prst="rect">
            <a:avLst/>
          </a:prstGeom>
          <a:noFill/>
          <a:ln/>
        </p:spPr>
        <p:txBody>
          <a:bodyPr wrap="square" lIns="0" tIns="0" rIns="0" bIns="0" rtlCol="0" anchor="t"/>
          <a:lstStyle/>
          <a:p>
            <a:pPr algn="r" indent="0" marL="0">
              <a:buNone/>
            </a:pPr>
            <a:r>
              <a:rPr lang="en-US" sz="1800" dirty="0">
                <a:solidFill>
                  <a:srgbClr val="9FB3CC"/>
                </a:solidFill>
                <a:latin typeface="Futura" pitchFamily="34" charset="0"/>
                <a:ea typeface="Futura" pitchFamily="34" charset="-122"/>
                <a:cs typeface="Futura" pitchFamily="34" charset="-120"/>
              </a:rPr>
              <a:t>Department of Environmental</a:t>
            </a:r>
            <a:endParaRPr lang="en-US" sz="1800" dirty="0"/>
          </a:p>
          <a:p>
            <a:pPr algn="r" indent="0" marL="0">
              <a:buNone/>
            </a:pPr>
            <a:r>
              <a:rPr lang="en-US" sz="1800" dirty="0">
                <a:solidFill>
                  <a:srgbClr val="9FB3CC"/>
                </a:solidFill>
                <a:latin typeface="Futura" pitchFamily="34" charset="0"/>
                <a:ea typeface="Futura" pitchFamily="34" charset="-122"/>
                <a:cs typeface="Futura" pitchFamily="34" charset="-120"/>
              </a:rPr>
              <a:t>&amp; Occupational Health</a:t>
            </a:r>
            <a:endParaRPr lang="en-US" sz="1800" dirty="0"/>
          </a:p>
        </p:txBody>
      </p:sp>
      <p:sp>
        <p:nvSpPr>
          <p:cNvPr id="6" name="Text 4"/>
          <p:cNvSpPr txBox="1"/>
          <p:nvPr/>
        </p:nvSpPr>
        <p:spPr>
          <a:xfrm>
            <a:off x="1028700" y="40690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AI WORKSHOPS FOR DSPH</a:t>
            </a:r>
            <a:endParaRPr lang="en-US" sz="1800" dirty="0"/>
          </a:p>
        </p:txBody>
      </p:sp>
      <p:sp>
        <p:nvSpPr>
          <p:cNvPr id="7" name="Text 5"/>
          <p:cNvSpPr txBox="1"/>
          <p:nvPr/>
        </p:nvSpPr>
        <p:spPr>
          <a:xfrm>
            <a:off x="1028700" y="4434840"/>
            <a:ext cx="16230600" cy="1371600"/>
          </a:xfrm>
          <a:prstGeom prst="rect">
            <a:avLst/>
          </a:prstGeom>
          <a:noFill/>
          <a:ln/>
        </p:spPr>
        <p:txBody>
          <a:bodyPr wrap="square" lIns="0" tIns="0" rIns="0" bIns="0" rtlCol="0" anchor="ctr"/>
          <a:lstStyle/>
          <a:p>
            <a:pPr indent="0" marL="0">
              <a:buNone/>
            </a:pPr>
            <a:r>
              <a:rPr lang="en-US" sz="8900" b="1" dirty="0">
                <a:solidFill>
                  <a:srgbClr val="FFFFFF"/>
                </a:solidFill>
                <a:latin typeface="Georgia" pitchFamily="34" charset="0"/>
                <a:ea typeface="Georgia" pitchFamily="34" charset="-122"/>
                <a:cs typeface="Georgia" pitchFamily="34" charset="-120"/>
              </a:rPr>
              <a:t>Foundations &amp; Capabilities</a:t>
            </a:r>
            <a:endParaRPr lang="en-US" sz="8900" dirty="0"/>
          </a:p>
        </p:txBody>
      </p:sp>
      <p:sp>
        <p:nvSpPr>
          <p:cNvPr id="8" name="Shape 6"/>
          <p:cNvSpPr/>
          <p:nvPr/>
        </p:nvSpPr>
        <p:spPr>
          <a:xfrm>
            <a:off x="1028700" y="6035040"/>
            <a:ext cx="777240" cy="73152"/>
          </a:xfrm>
          <a:prstGeom prst="rect">
            <a:avLst/>
          </a:prstGeom>
          <a:solidFill>
            <a:srgbClr val="FFC600"/>
          </a:solidFill>
          <a:ln/>
        </p:spPr>
      </p:sp>
      <p:sp>
        <p:nvSpPr>
          <p:cNvPr id="9" name="Text 7"/>
          <p:cNvSpPr txBox="1"/>
          <p:nvPr/>
        </p:nvSpPr>
        <p:spPr>
          <a:xfrm>
            <a:off x="1028700" y="6400800"/>
            <a:ext cx="14173200" cy="914400"/>
          </a:xfrm>
          <a:prstGeom prst="rect">
            <a:avLst/>
          </a:prstGeom>
          <a:noFill/>
          <a:ln/>
        </p:spPr>
        <p:txBody>
          <a:bodyPr wrap="square" lIns="0" tIns="0" rIns="0" bIns="0" rtlCol="0" anchor="t"/>
          <a:lstStyle/>
          <a:p>
            <a:pPr indent="0" marL="0">
              <a:buNone/>
            </a:pPr>
            <a:r>
              <a:rPr lang="en-US" sz="2600" dirty="0">
                <a:solidFill>
                  <a:srgbClr val="C7D2DF"/>
                </a:solidFill>
                <a:latin typeface="Futura" pitchFamily="34" charset="0"/>
                <a:ea typeface="Futura" pitchFamily="34" charset="-122"/>
                <a:cs typeface="Futura" pitchFamily="34" charset="-120"/>
              </a:rPr>
              <a:t>What generative AI is, which Drexel tools to use, and how to ask for what you need. No experience needed.</a:t>
            </a:r>
            <a:endParaRPr lang="en-US" sz="2600" dirty="0"/>
          </a:p>
        </p:txBody>
      </p:sp>
      <p:sp>
        <p:nvSpPr>
          <p:cNvPr id="10" name="Text 8"/>
          <p:cNvSpPr txBox="1"/>
          <p:nvPr/>
        </p:nvSpPr>
        <p:spPr>
          <a:xfrm>
            <a:off x="1028700" y="8686800"/>
            <a:ext cx="9144000" cy="365760"/>
          </a:xfrm>
          <a:prstGeom prst="rect">
            <a:avLst/>
          </a:prstGeom>
          <a:noFill/>
          <a:ln/>
        </p:spPr>
        <p:txBody>
          <a:bodyPr wrap="square" lIns="0" tIns="0" rIns="0" bIns="0" rtlCol="0" anchor="t"/>
          <a:lstStyle/>
          <a:p>
            <a:pPr indent="0" marL="0">
              <a:buNone/>
            </a:pPr>
            <a:r>
              <a:rPr lang="en-US" sz="2300" b="1" dirty="0">
                <a:solidFill>
                  <a:srgbClr val="FFFFFF"/>
                </a:solidFill>
                <a:latin typeface="Futura" pitchFamily="34" charset="0"/>
                <a:ea typeface="Futura" pitchFamily="34" charset="-122"/>
                <a:cs typeface="Futura" pitchFamily="34" charset="-120"/>
              </a:rPr>
              <a:t>Alex Quistberg, PhD, MPH</a:t>
            </a:r>
            <a:endParaRPr lang="en-US" sz="2300" dirty="0"/>
          </a:p>
        </p:txBody>
      </p:sp>
      <p:sp>
        <p:nvSpPr>
          <p:cNvPr id="11" name="Text 9"/>
          <p:cNvSpPr txBox="1"/>
          <p:nvPr/>
        </p:nvSpPr>
        <p:spPr>
          <a:xfrm>
            <a:off x="1028700" y="9070848"/>
            <a:ext cx="10058400" cy="320040"/>
          </a:xfrm>
          <a:prstGeom prst="rect">
            <a:avLst/>
          </a:prstGeom>
          <a:noFill/>
          <a:ln/>
        </p:spPr>
        <p:txBody>
          <a:bodyPr wrap="square" lIns="0" tIns="0" rIns="0" bIns="0" rtlCol="0" anchor="t"/>
          <a:lstStyle/>
          <a:p>
            <a:pPr indent="0" marL="0">
              <a:buNone/>
            </a:pPr>
            <a:r>
              <a:rPr lang="en-US" sz="1900" dirty="0">
                <a:solidFill>
                  <a:srgbClr val="9FB3CC"/>
                </a:solidFill>
                <a:latin typeface="Futura" pitchFamily="34" charset="0"/>
                <a:ea typeface="Futura" pitchFamily="34" charset="-122"/>
                <a:cs typeface="Futura" pitchFamily="34" charset="-120"/>
              </a:rPr>
              <a:t>Associate Research Professor · Department of Environmental &amp; Occupational Health</a:t>
            </a:r>
            <a:endParaRPr lang="en-US" sz="1900" dirty="0"/>
          </a:p>
        </p:txBody>
      </p:sp>
      <p:sp>
        <p:nvSpPr>
          <p:cNvPr id="12" name="Text 10"/>
          <p:cNvSpPr txBox="1"/>
          <p:nvPr/>
        </p:nvSpPr>
        <p:spPr>
          <a:xfrm>
            <a:off x="9509760" y="9070848"/>
            <a:ext cx="7772400" cy="320040"/>
          </a:xfrm>
          <a:prstGeom prst="rect">
            <a:avLst/>
          </a:prstGeom>
          <a:noFill/>
          <a:ln/>
        </p:spPr>
        <p:txBody>
          <a:bodyPr wrap="square" lIns="0" tIns="0" rIns="0" bIns="0" rtlCol="0" anchor="t"/>
          <a:lstStyle/>
          <a:p>
            <a:pPr algn="r" indent="0" marL="0">
              <a:buNone/>
            </a:pPr>
            <a:r>
              <a:rPr lang="en-US" sz="1900" dirty="0">
                <a:solidFill>
                  <a:srgbClr val="9FB3CC"/>
                </a:solidFill>
                <a:latin typeface="Futura" pitchFamily="34" charset="0"/>
                <a:ea typeface="Futura" pitchFamily="34" charset="-122"/>
                <a:cs typeface="Futura" pitchFamily="34" charset="-120"/>
              </a:rPr>
              <a:t>Core 1 · Fall 2026 · on Zoom</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WHAT YOU'LL LEAVE WITH</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Today's Goals</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3017520"/>
            <a:ext cx="502920" cy="502920"/>
          </a:xfrm>
          <a:prstGeom prst="ellipse">
            <a:avLst/>
          </a:prstGeom>
          <a:solidFill>
            <a:srgbClr val="FFC600"/>
          </a:solidFill>
          <a:ln/>
        </p:spPr>
      </p:sp>
      <p:sp>
        <p:nvSpPr>
          <p:cNvPr id="10" name="Text 7"/>
          <p:cNvSpPr txBox="1"/>
          <p:nvPr/>
        </p:nvSpPr>
        <p:spPr>
          <a:xfrm>
            <a:off x="1028700" y="301752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1</a:t>
            </a:r>
            <a:endParaRPr lang="en-US" sz="2200" dirty="0"/>
          </a:p>
        </p:txBody>
      </p:sp>
      <p:sp>
        <p:nvSpPr>
          <p:cNvPr id="11" name="Text 8"/>
          <p:cNvSpPr txBox="1"/>
          <p:nvPr/>
        </p:nvSpPr>
        <p:spPr>
          <a:xfrm>
            <a:off x="1805940" y="3017520"/>
            <a:ext cx="15453360" cy="502920"/>
          </a:xfrm>
          <a:prstGeom prst="rect">
            <a:avLst/>
          </a:prstGeom>
          <a:noFill/>
          <a:ln/>
        </p:spPr>
        <p:txBody>
          <a:bodyPr wrap="square" lIns="0" tIns="0" rIns="0" bIns="0" rtlCol="0" anchor="ctr"/>
          <a:lstStyle/>
          <a:p>
            <a:pPr indent="0" marL="0">
              <a:buNone/>
            </a:pPr>
            <a:r>
              <a:rPr lang="en-US" sz="2600" dirty="0">
                <a:solidFill>
                  <a:srgbClr val="1C2530"/>
                </a:solidFill>
                <a:latin typeface="Futura" pitchFamily="34" charset="0"/>
                <a:ea typeface="Futura" pitchFamily="34" charset="-122"/>
                <a:cs typeface="Futura" pitchFamily="34" charset="-120"/>
              </a:rPr>
              <a:t>Say in one sentence what tools like ChatGPT do, and what they get wrong.</a:t>
            </a:r>
            <a:endParaRPr lang="en-US" sz="2600" dirty="0"/>
          </a:p>
        </p:txBody>
      </p:sp>
      <p:sp>
        <p:nvSpPr>
          <p:cNvPr id="12" name="Shape 9"/>
          <p:cNvSpPr/>
          <p:nvPr/>
        </p:nvSpPr>
        <p:spPr>
          <a:xfrm>
            <a:off x="1028700" y="3886200"/>
            <a:ext cx="502920" cy="502920"/>
          </a:xfrm>
          <a:prstGeom prst="ellipse">
            <a:avLst/>
          </a:prstGeom>
          <a:solidFill>
            <a:srgbClr val="FFC600"/>
          </a:solidFill>
          <a:ln/>
        </p:spPr>
      </p:sp>
      <p:sp>
        <p:nvSpPr>
          <p:cNvPr id="13" name="Text 10"/>
          <p:cNvSpPr txBox="1"/>
          <p:nvPr/>
        </p:nvSpPr>
        <p:spPr>
          <a:xfrm>
            <a:off x="1028700" y="388620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2</a:t>
            </a:r>
            <a:endParaRPr lang="en-US" sz="2200" dirty="0"/>
          </a:p>
        </p:txBody>
      </p:sp>
      <p:sp>
        <p:nvSpPr>
          <p:cNvPr id="14" name="Text 11"/>
          <p:cNvSpPr txBox="1"/>
          <p:nvPr/>
        </p:nvSpPr>
        <p:spPr>
          <a:xfrm>
            <a:off x="1805940" y="3886200"/>
            <a:ext cx="15453360" cy="502920"/>
          </a:xfrm>
          <a:prstGeom prst="rect">
            <a:avLst/>
          </a:prstGeom>
          <a:noFill/>
          <a:ln/>
        </p:spPr>
        <p:txBody>
          <a:bodyPr wrap="square" lIns="0" tIns="0" rIns="0" bIns="0" rtlCol="0" anchor="ctr"/>
          <a:lstStyle/>
          <a:p>
            <a:pPr indent="0" marL="0">
              <a:buNone/>
            </a:pPr>
            <a:r>
              <a:rPr lang="en-US" sz="2600" dirty="0">
                <a:solidFill>
                  <a:srgbClr val="1C2530"/>
                </a:solidFill>
                <a:latin typeface="Futura" pitchFamily="34" charset="0"/>
                <a:ea typeface="Futura" pitchFamily="34" charset="-122"/>
                <a:cs typeface="Futura" pitchFamily="34" charset="-120"/>
              </a:rPr>
              <a:t>Know which Drexel tools to use and what never goes into them.</a:t>
            </a:r>
            <a:endParaRPr lang="en-US" sz="2600" dirty="0"/>
          </a:p>
        </p:txBody>
      </p:sp>
      <p:sp>
        <p:nvSpPr>
          <p:cNvPr id="15" name="Shape 12"/>
          <p:cNvSpPr/>
          <p:nvPr/>
        </p:nvSpPr>
        <p:spPr>
          <a:xfrm>
            <a:off x="1028700" y="4754880"/>
            <a:ext cx="502920" cy="502920"/>
          </a:xfrm>
          <a:prstGeom prst="ellipse">
            <a:avLst/>
          </a:prstGeom>
          <a:solidFill>
            <a:srgbClr val="FFC600"/>
          </a:solidFill>
          <a:ln/>
        </p:spPr>
      </p:sp>
      <p:sp>
        <p:nvSpPr>
          <p:cNvPr id="16" name="Text 13"/>
          <p:cNvSpPr txBox="1"/>
          <p:nvPr/>
        </p:nvSpPr>
        <p:spPr>
          <a:xfrm>
            <a:off x="1028700" y="475488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3</a:t>
            </a:r>
            <a:endParaRPr lang="en-US" sz="2200" dirty="0"/>
          </a:p>
        </p:txBody>
      </p:sp>
      <p:sp>
        <p:nvSpPr>
          <p:cNvPr id="17" name="Text 14"/>
          <p:cNvSpPr txBox="1"/>
          <p:nvPr/>
        </p:nvSpPr>
        <p:spPr>
          <a:xfrm>
            <a:off x="1805940" y="4754880"/>
            <a:ext cx="15453360" cy="502920"/>
          </a:xfrm>
          <a:prstGeom prst="rect">
            <a:avLst/>
          </a:prstGeom>
          <a:noFill/>
          <a:ln/>
        </p:spPr>
        <p:txBody>
          <a:bodyPr wrap="square" lIns="0" tIns="0" rIns="0" bIns="0" rtlCol="0" anchor="ctr"/>
          <a:lstStyle/>
          <a:p>
            <a:pPr indent="0" marL="0">
              <a:buNone/>
            </a:pPr>
            <a:r>
              <a:rPr lang="en-US" sz="2600" dirty="0">
                <a:solidFill>
                  <a:srgbClr val="1C2530"/>
                </a:solidFill>
                <a:latin typeface="Futura" pitchFamily="34" charset="0"/>
                <a:ea typeface="Futura" pitchFamily="34" charset="-122"/>
                <a:cs typeface="Futura" pitchFamily="34" charset="-120"/>
              </a:rPr>
              <a:t>Sign in to ChatGPT Edu, type a request, and ask a follow-up.</a:t>
            </a:r>
            <a:endParaRPr lang="en-US" sz="2600" dirty="0"/>
          </a:p>
        </p:txBody>
      </p:sp>
      <p:sp>
        <p:nvSpPr>
          <p:cNvPr id="18" name="Shape 15"/>
          <p:cNvSpPr/>
          <p:nvPr/>
        </p:nvSpPr>
        <p:spPr>
          <a:xfrm>
            <a:off x="1028700" y="5623560"/>
            <a:ext cx="502920" cy="502920"/>
          </a:xfrm>
          <a:prstGeom prst="ellipse">
            <a:avLst/>
          </a:prstGeom>
          <a:solidFill>
            <a:srgbClr val="FFC600"/>
          </a:solidFill>
          <a:ln/>
        </p:spPr>
      </p:sp>
      <p:sp>
        <p:nvSpPr>
          <p:cNvPr id="19" name="Text 16"/>
          <p:cNvSpPr txBox="1"/>
          <p:nvPr/>
        </p:nvSpPr>
        <p:spPr>
          <a:xfrm>
            <a:off x="1028700" y="562356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4</a:t>
            </a:r>
            <a:endParaRPr lang="en-US" sz="2200" dirty="0"/>
          </a:p>
        </p:txBody>
      </p:sp>
      <p:sp>
        <p:nvSpPr>
          <p:cNvPr id="20" name="Text 17"/>
          <p:cNvSpPr txBox="1"/>
          <p:nvPr/>
        </p:nvSpPr>
        <p:spPr>
          <a:xfrm>
            <a:off x="1805940" y="5623560"/>
            <a:ext cx="15453360" cy="502920"/>
          </a:xfrm>
          <a:prstGeom prst="rect">
            <a:avLst/>
          </a:prstGeom>
          <a:noFill/>
          <a:ln/>
        </p:spPr>
        <p:txBody>
          <a:bodyPr wrap="square" lIns="0" tIns="0" rIns="0" bIns="0" rtlCol="0" anchor="ctr"/>
          <a:lstStyle/>
          <a:p>
            <a:pPr indent="0" marL="0">
              <a:buNone/>
            </a:pPr>
            <a:r>
              <a:rPr lang="en-US" sz="2600" dirty="0">
                <a:solidFill>
                  <a:srgbClr val="1C2530"/>
                </a:solidFill>
                <a:latin typeface="Futura" pitchFamily="34" charset="0"/>
                <a:ea typeface="Futura" pitchFamily="34" charset="-122"/>
                <a:cs typeface="Futura" pitchFamily="34" charset="-120"/>
              </a:rPr>
              <a:t>Use four simple questions (PTCF) to get a better answer.</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294D"/>
        </a:solidFill>
      </p:bgPr>
    </p:bg>
    <p:spTree>
      <p:nvGrpSpPr>
        <p:cNvPr id="1" name=""/>
        <p:cNvGrpSpPr/>
        <p:nvPr/>
      </p:nvGrpSpPr>
      <p:grpSpPr>
        <a:xfrm>
          <a:off x="0" y="0"/>
          <a:ext cx="0" cy="0"/>
          <a:chOff x="0" y="0"/>
          <a:chExt cx="0" cy="0"/>
        </a:xfrm>
      </p:grpSpPr>
      <p:sp>
        <p:nvSpPr>
          <p:cNvPr id="2" name="Text 0"/>
          <p:cNvSpPr txBox="1"/>
          <p:nvPr/>
        </p:nvSpPr>
        <p:spPr>
          <a:xfrm>
            <a:off x="1028700" y="33832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SECTION 01</a:t>
            </a:r>
            <a:endParaRPr lang="en-US" sz="1800" dirty="0"/>
          </a:p>
        </p:txBody>
      </p:sp>
      <p:sp>
        <p:nvSpPr>
          <p:cNvPr id="3" name="Text 1"/>
          <p:cNvSpPr txBox="1"/>
          <p:nvPr/>
        </p:nvSpPr>
        <p:spPr>
          <a:xfrm>
            <a:off x="1028700" y="3749040"/>
            <a:ext cx="16230600" cy="1097280"/>
          </a:xfrm>
          <a:prstGeom prst="rect">
            <a:avLst/>
          </a:prstGeom>
          <a:noFill/>
          <a:ln/>
        </p:spPr>
        <p:txBody>
          <a:bodyPr wrap="square" lIns="0" tIns="0" rIns="0" bIns="0" rtlCol="0" anchor="ctr"/>
          <a:lstStyle/>
          <a:p>
            <a:pPr indent="0" marL="0">
              <a:buNone/>
            </a:pPr>
            <a:r>
              <a:rPr lang="en-US" sz="7400" b="1" dirty="0">
                <a:solidFill>
                  <a:srgbClr val="FFFFFF"/>
                </a:solidFill>
                <a:latin typeface="Georgia" pitchFamily="34" charset="0"/>
                <a:ea typeface="Georgia" pitchFamily="34" charset="-122"/>
                <a:cs typeface="Georgia" pitchFamily="34" charset="-120"/>
              </a:rPr>
              <a:t>What AI Is</a:t>
            </a:r>
            <a:endParaRPr lang="en-US" sz="7400" dirty="0"/>
          </a:p>
        </p:txBody>
      </p:sp>
      <p:sp>
        <p:nvSpPr>
          <p:cNvPr id="4" name="Shape 2"/>
          <p:cNvSpPr/>
          <p:nvPr/>
        </p:nvSpPr>
        <p:spPr>
          <a:xfrm>
            <a:off x="1028700" y="5074920"/>
            <a:ext cx="777240" cy="73152"/>
          </a:xfrm>
          <a:prstGeom prst="rect">
            <a:avLst/>
          </a:prstGeom>
          <a:solidFill>
            <a:srgbClr val="FFC600"/>
          </a:solidFill>
          <a:ln/>
        </p:spPr>
      </p:sp>
      <p:sp>
        <p:nvSpPr>
          <p:cNvPr id="5" name="Text 3"/>
          <p:cNvSpPr txBox="1"/>
          <p:nvPr/>
        </p:nvSpPr>
        <p:spPr>
          <a:xfrm>
            <a:off x="1028700" y="5486400"/>
            <a:ext cx="13258800" cy="914400"/>
          </a:xfrm>
          <a:prstGeom prst="rect">
            <a:avLst/>
          </a:prstGeom>
          <a:noFill/>
          <a:ln/>
        </p:spPr>
        <p:txBody>
          <a:bodyPr wrap="square" lIns="0" tIns="0" rIns="0" bIns="0" rtlCol="0" anchor="t"/>
          <a:lstStyle/>
          <a:p>
            <a:pPr indent="0" marL="0">
              <a:buNone/>
            </a:pPr>
            <a:r>
              <a:rPr lang="en-US" sz="2800" dirty="0">
                <a:solidFill>
                  <a:srgbClr val="C7D2DF"/>
                </a:solidFill>
                <a:latin typeface="Futura" pitchFamily="34" charset="0"/>
                <a:ea typeface="Futura" pitchFamily="34" charset="-122"/>
                <a:cs typeface="Futura" pitchFamily="34" charset="-120"/>
              </a:rPr>
              <a:t>What these tools do, which ones to use, and the one data rule.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THE MENTAL MODEL</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AI Drafts, You Decide</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Text 6"/>
          <p:cNvSpPr txBox="1"/>
          <p:nvPr/>
        </p:nvSpPr>
        <p:spPr>
          <a:xfrm>
            <a:off x="1028700" y="2697480"/>
            <a:ext cx="14904720" cy="1188720"/>
          </a:xfrm>
          <a:prstGeom prst="rect">
            <a:avLst/>
          </a:prstGeom>
          <a:noFill/>
          <a:ln/>
        </p:spPr>
        <p:txBody>
          <a:bodyPr wrap="square" lIns="0" tIns="0" rIns="0" bIns="0" rtlCol="0" anchor="t"/>
          <a:lstStyle/>
          <a:p>
            <a:pPr indent="0" marL="0">
              <a:lnSpc>
                <a:spcPct val="125000"/>
              </a:lnSpc>
              <a:buNone/>
            </a:pPr>
            <a:r>
              <a:rPr lang="en-US" sz="2900" dirty="0">
                <a:solidFill>
                  <a:srgbClr val="1C2530"/>
                </a:solidFill>
                <a:latin typeface="Futura" pitchFamily="34" charset="0"/>
                <a:ea typeface="Futura" pitchFamily="34" charset="-122"/>
                <a:cs typeface="Futura" pitchFamily="34" charset="-120"/>
              </a:rPr>
              <a:t>ChatGPT and Copilot write text by predicting what words should come next, based on patterns in a huge amount of writing.</a:t>
            </a:r>
            <a:endParaRPr lang="en-US" sz="2900" dirty="0"/>
          </a:p>
        </p:txBody>
      </p:sp>
      <p:sp>
        <p:nvSpPr>
          <p:cNvPr id="10" name="Text 7"/>
          <p:cNvSpPr txBox="1"/>
          <p:nvPr/>
        </p:nvSpPr>
        <p:spPr>
          <a:xfrm>
            <a:off x="1028700" y="4206240"/>
            <a:ext cx="14904720" cy="320040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500" dirty="0">
                <a:solidFill>
                  <a:srgbClr val="1C2530"/>
                </a:solidFill>
                <a:latin typeface="Futura" pitchFamily="34" charset="0"/>
                <a:ea typeface="Futura" pitchFamily="34" charset="-122"/>
                <a:cs typeface="Futura" pitchFamily="34" charset="-120"/>
              </a:rPr>
              <a:t>Good at drafting, summarizing, rewriting, and explaining.</a:t>
            </a:r>
            <a:endParaRPr lang="en-US" sz="2500" dirty="0"/>
          </a:p>
          <a:p>
            <a:pPr marL="279400" indent="-279400">
              <a:lnSpc>
                <a:spcPct val="120000"/>
              </a:lnSpc>
              <a:spcAft>
                <a:spcPts val="1200"/>
              </a:spcAft>
              <a:buSzPct val="100000"/>
              <a:buChar char="•"/>
            </a:pPr>
            <a:r>
              <a:rPr lang="en-US" sz="2500" dirty="0">
                <a:solidFill>
                  <a:srgbClr val="1C2530"/>
                </a:solidFill>
                <a:latin typeface="Futura" pitchFamily="34" charset="0"/>
                <a:ea typeface="Futura" pitchFamily="34" charset="-122"/>
                <a:cs typeface="Futura" pitchFamily="34" charset="-120"/>
              </a:rPr>
              <a:t>Can sound confident and still be wrong. They are not search engines or databases.</a:t>
            </a:r>
            <a:endParaRPr lang="en-US" sz="2500" dirty="0"/>
          </a:p>
          <a:p>
            <a:pPr marL="279400" indent="-279400">
              <a:lnSpc>
                <a:spcPct val="120000"/>
              </a:lnSpc>
              <a:spcAft>
                <a:spcPts val="1200"/>
              </a:spcAft>
              <a:buSzPct val="100000"/>
              <a:buChar char="•"/>
            </a:pPr>
            <a:r>
              <a:rPr lang="en-US" sz="2500" dirty="0">
                <a:solidFill>
                  <a:srgbClr val="1C2530"/>
                </a:solidFill>
                <a:latin typeface="Futura" pitchFamily="34" charset="0"/>
                <a:ea typeface="Futura" pitchFamily="34" charset="-122"/>
                <a:cs typeface="Futura" pitchFamily="34" charset="-120"/>
              </a:rPr>
              <a:t>Think of a fast, eager assistant who has read a lot but is sometimes wrong. You check the draft before you use it.</a:t>
            </a:r>
            <a:endParaRPr lang="en-US" sz="2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A FEW WORDS YOU'LL HEAR</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Four Terms</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2697480"/>
            <a:ext cx="7863840" cy="2743200"/>
          </a:xfrm>
          <a:prstGeom prst="rect">
            <a:avLst/>
          </a:prstGeom>
          <a:solidFill>
            <a:srgbClr val="FFFFFF"/>
          </a:solidFill>
          <a:ln w="9525">
            <a:solidFill>
              <a:srgbClr val="D0D3D4"/>
            </a:solidFill>
            <a:prstDash val="solid"/>
          </a:ln>
        </p:spPr>
      </p:sp>
      <p:sp>
        <p:nvSpPr>
          <p:cNvPr id="10" name="Shape 7"/>
          <p:cNvSpPr/>
          <p:nvPr/>
        </p:nvSpPr>
        <p:spPr>
          <a:xfrm>
            <a:off x="1028700" y="2697480"/>
            <a:ext cx="7863840" cy="777240"/>
          </a:xfrm>
          <a:prstGeom prst="rect">
            <a:avLst/>
          </a:prstGeom>
          <a:solidFill>
            <a:srgbClr val="006699"/>
          </a:solidFill>
          <a:ln/>
        </p:spPr>
      </p:sp>
      <p:sp>
        <p:nvSpPr>
          <p:cNvPr id="11" name="Text 8"/>
          <p:cNvSpPr txBox="1"/>
          <p:nvPr/>
        </p:nvSpPr>
        <p:spPr>
          <a:xfrm>
            <a:off x="1348740" y="269748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Prompt</a:t>
            </a:r>
            <a:endParaRPr lang="en-US" sz="2900" dirty="0"/>
          </a:p>
        </p:txBody>
      </p:sp>
      <p:sp>
        <p:nvSpPr>
          <p:cNvPr id="12" name="Text 9"/>
          <p:cNvSpPr txBox="1"/>
          <p:nvPr/>
        </p:nvSpPr>
        <p:spPr>
          <a:xfrm>
            <a:off x="1348740" y="3749040"/>
            <a:ext cx="7223760" cy="146304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What you type into the box: a question, a request, or instructions.</a:t>
            </a:r>
            <a:endParaRPr lang="en-US" sz="2400" dirty="0"/>
          </a:p>
        </p:txBody>
      </p:sp>
      <p:sp>
        <p:nvSpPr>
          <p:cNvPr id="13" name="Shape 10"/>
          <p:cNvSpPr/>
          <p:nvPr/>
        </p:nvSpPr>
        <p:spPr>
          <a:xfrm>
            <a:off x="9395460" y="2697480"/>
            <a:ext cx="7863840" cy="2743200"/>
          </a:xfrm>
          <a:prstGeom prst="rect">
            <a:avLst/>
          </a:prstGeom>
          <a:solidFill>
            <a:srgbClr val="FFFFFF"/>
          </a:solidFill>
          <a:ln w="9525">
            <a:solidFill>
              <a:srgbClr val="D0D3D4"/>
            </a:solidFill>
            <a:prstDash val="solid"/>
          </a:ln>
        </p:spPr>
      </p:sp>
      <p:sp>
        <p:nvSpPr>
          <p:cNvPr id="14" name="Shape 11"/>
          <p:cNvSpPr/>
          <p:nvPr/>
        </p:nvSpPr>
        <p:spPr>
          <a:xfrm>
            <a:off x="9395460" y="2697480"/>
            <a:ext cx="7863840" cy="777240"/>
          </a:xfrm>
          <a:prstGeom prst="rect">
            <a:avLst/>
          </a:prstGeom>
          <a:solidFill>
            <a:srgbClr val="006699"/>
          </a:solidFill>
          <a:ln/>
        </p:spPr>
      </p:sp>
      <p:sp>
        <p:nvSpPr>
          <p:cNvPr id="15" name="Text 12"/>
          <p:cNvSpPr txBox="1"/>
          <p:nvPr/>
        </p:nvSpPr>
        <p:spPr>
          <a:xfrm>
            <a:off x="9715500" y="269748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Chat</a:t>
            </a:r>
            <a:endParaRPr lang="en-US" sz="2900" dirty="0"/>
          </a:p>
        </p:txBody>
      </p:sp>
      <p:sp>
        <p:nvSpPr>
          <p:cNvPr id="16" name="Text 13"/>
          <p:cNvSpPr txBox="1"/>
          <p:nvPr/>
        </p:nvSpPr>
        <p:spPr>
          <a:xfrm>
            <a:off x="9715500" y="3749040"/>
            <a:ext cx="7223760" cy="146304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One conversation. It remembers earlier messages in the same chat, not other chats.</a:t>
            </a:r>
            <a:endParaRPr lang="en-US" sz="2400" dirty="0"/>
          </a:p>
        </p:txBody>
      </p:sp>
      <p:sp>
        <p:nvSpPr>
          <p:cNvPr id="17" name="Shape 14"/>
          <p:cNvSpPr/>
          <p:nvPr/>
        </p:nvSpPr>
        <p:spPr>
          <a:xfrm>
            <a:off x="1028700" y="5852160"/>
            <a:ext cx="7863840" cy="2743200"/>
          </a:xfrm>
          <a:prstGeom prst="rect">
            <a:avLst/>
          </a:prstGeom>
          <a:solidFill>
            <a:srgbClr val="FFFFFF"/>
          </a:solidFill>
          <a:ln w="9525">
            <a:solidFill>
              <a:srgbClr val="D0D3D4"/>
            </a:solidFill>
            <a:prstDash val="solid"/>
          </a:ln>
        </p:spPr>
      </p:sp>
      <p:sp>
        <p:nvSpPr>
          <p:cNvPr id="18" name="Shape 15"/>
          <p:cNvSpPr/>
          <p:nvPr/>
        </p:nvSpPr>
        <p:spPr>
          <a:xfrm>
            <a:off x="1028700" y="5852160"/>
            <a:ext cx="7863840" cy="777240"/>
          </a:xfrm>
          <a:prstGeom prst="rect">
            <a:avLst/>
          </a:prstGeom>
          <a:solidFill>
            <a:srgbClr val="006699"/>
          </a:solidFill>
          <a:ln/>
        </p:spPr>
      </p:sp>
      <p:sp>
        <p:nvSpPr>
          <p:cNvPr id="19" name="Text 16"/>
          <p:cNvSpPr txBox="1"/>
          <p:nvPr/>
        </p:nvSpPr>
        <p:spPr>
          <a:xfrm>
            <a:off x="1348740" y="585216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Model</a:t>
            </a:r>
            <a:endParaRPr lang="en-US" sz="2900" dirty="0"/>
          </a:p>
        </p:txBody>
      </p:sp>
      <p:sp>
        <p:nvSpPr>
          <p:cNvPr id="20" name="Text 17"/>
          <p:cNvSpPr txBox="1"/>
          <p:nvPr/>
        </p:nvSpPr>
        <p:spPr>
          <a:xfrm>
            <a:off x="1348740" y="6903720"/>
            <a:ext cx="7223760" cy="146304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The AI system underneath the tool. You can use the default.</a:t>
            </a:r>
            <a:endParaRPr lang="en-US" sz="2400" dirty="0"/>
          </a:p>
        </p:txBody>
      </p:sp>
      <p:sp>
        <p:nvSpPr>
          <p:cNvPr id="21" name="Shape 18"/>
          <p:cNvSpPr/>
          <p:nvPr/>
        </p:nvSpPr>
        <p:spPr>
          <a:xfrm>
            <a:off x="9395460" y="5852160"/>
            <a:ext cx="7863840" cy="2743200"/>
          </a:xfrm>
          <a:prstGeom prst="rect">
            <a:avLst/>
          </a:prstGeom>
          <a:solidFill>
            <a:srgbClr val="FFFFFF"/>
          </a:solidFill>
          <a:ln w="9525">
            <a:solidFill>
              <a:srgbClr val="D0D3D4"/>
            </a:solidFill>
            <a:prstDash val="solid"/>
          </a:ln>
        </p:spPr>
      </p:sp>
      <p:sp>
        <p:nvSpPr>
          <p:cNvPr id="22" name="Shape 19"/>
          <p:cNvSpPr/>
          <p:nvPr/>
        </p:nvSpPr>
        <p:spPr>
          <a:xfrm>
            <a:off x="9395460" y="5852160"/>
            <a:ext cx="7863840" cy="777240"/>
          </a:xfrm>
          <a:prstGeom prst="rect">
            <a:avLst/>
          </a:prstGeom>
          <a:solidFill>
            <a:srgbClr val="971B2F"/>
          </a:solidFill>
          <a:ln/>
        </p:spPr>
      </p:sp>
      <p:sp>
        <p:nvSpPr>
          <p:cNvPr id="23" name="Text 20"/>
          <p:cNvSpPr txBox="1"/>
          <p:nvPr/>
        </p:nvSpPr>
        <p:spPr>
          <a:xfrm>
            <a:off x="9715500" y="585216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Hallucination</a:t>
            </a:r>
            <a:endParaRPr lang="en-US" sz="2900" dirty="0"/>
          </a:p>
        </p:txBody>
      </p:sp>
      <p:sp>
        <p:nvSpPr>
          <p:cNvPr id="24" name="Text 21"/>
          <p:cNvSpPr txBox="1"/>
          <p:nvPr/>
        </p:nvSpPr>
        <p:spPr>
          <a:xfrm>
            <a:off x="9715500" y="6903720"/>
            <a:ext cx="7223760" cy="146304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When the AI states something false as if it were true.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TOOLS &amp; DATA</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Which Tool, and the One Data Rule</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2697480"/>
            <a:ext cx="7863840" cy="4206240"/>
          </a:xfrm>
          <a:prstGeom prst="rect">
            <a:avLst/>
          </a:prstGeom>
          <a:solidFill>
            <a:srgbClr val="FFFFFF"/>
          </a:solidFill>
          <a:ln w="9525">
            <a:solidFill>
              <a:srgbClr val="D0D3D4"/>
            </a:solidFill>
            <a:prstDash val="solid"/>
          </a:ln>
        </p:spPr>
      </p:sp>
      <p:sp>
        <p:nvSpPr>
          <p:cNvPr id="10" name="Shape 7"/>
          <p:cNvSpPr/>
          <p:nvPr/>
        </p:nvSpPr>
        <p:spPr>
          <a:xfrm>
            <a:off x="1028700" y="2697480"/>
            <a:ext cx="7863840" cy="777240"/>
          </a:xfrm>
          <a:prstGeom prst="rect">
            <a:avLst/>
          </a:prstGeom>
          <a:solidFill>
            <a:srgbClr val="006699"/>
          </a:solidFill>
          <a:ln/>
        </p:spPr>
      </p:sp>
      <p:sp>
        <p:nvSpPr>
          <p:cNvPr id="11" name="Text 8"/>
          <p:cNvSpPr txBox="1"/>
          <p:nvPr/>
        </p:nvSpPr>
        <p:spPr>
          <a:xfrm>
            <a:off x="1348740" y="269748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Which tool to use</a:t>
            </a:r>
            <a:endParaRPr lang="en-US" sz="2900" dirty="0"/>
          </a:p>
        </p:txBody>
      </p:sp>
      <p:sp>
        <p:nvSpPr>
          <p:cNvPr id="12" name="Text 9"/>
          <p:cNvSpPr txBox="1"/>
          <p:nvPr/>
        </p:nvSpPr>
        <p:spPr>
          <a:xfrm>
            <a:off x="1348740" y="3749040"/>
            <a:ext cx="7223760" cy="292608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b="1" dirty="0">
                <a:solidFill>
                  <a:srgbClr val="1C2530"/>
                </a:solidFill>
                <a:latin typeface="Futura" pitchFamily="34" charset="0"/>
                <a:ea typeface="Futura" pitchFamily="34" charset="-122"/>
                <a:cs typeface="Futura" pitchFamily="34" charset="-120"/>
              </a:rPr>
              <a:t>ChatGPT Edu</a:t>
            </a:r>
            <a:pPr indent="0" marL="0">
              <a:lnSpc>
                <a:spcPct val="120000"/>
              </a:lnSpc>
              <a:buNone/>
            </a:pPr>
            <a:r>
              <a:rPr lang="en-US" sz="2400" dirty="0">
                <a:solidFill>
                  <a:srgbClr val="1C2530"/>
                </a:solidFill>
                <a:latin typeface="Futura" pitchFamily="34" charset="0"/>
                <a:ea typeface="Futura" pitchFamily="34" charset="-122"/>
                <a:cs typeface="Futura" pitchFamily="34" charset="-120"/>
              </a:rPr>
              <a:t>, signed in with your Drexel account</a:t>
            </a:r>
            <a:endParaRPr lang="en-US" sz="2400" dirty="0"/>
          </a:p>
          <a:p>
            <a:pPr marL="279400" indent="-279400">
              <a:lnSpc>
                <a:spcPct val="120000"/>
              </a:lnSpc>
              <a:spcAft>
                <a:spcPts val="1200"/>
              </a:spcAft>
              <a:buSzPct val="100000"/>
              <a:buChar char="•"/>
            </a:pPr>
            <a:r>
              <a:rPr lang="en-US" sz="2400" b="1" dirty="0">
                <a:solidFill>
                  <a:srgbClr val="1C2530"/>
                </a:solidFill>
                <a:latin typeface="Futura" pitchFamily="34" charset="0"/>
                <a:ea typeface="Futura" pitchFamily="34" charset="-122"/>
                <a:cs typeface="Futura" pitchFamily="34" charset="-120"/>
              </a:rPr>
              <a:t>Copilot Chat</a:t>
            </a:r>
            <a:pPr indent="0" marL="0">
              <a:lnSpc>
                <a:spcPct val="120000"/>
              </a:lnSpc>
              <a:buNone/>
            </a:pPr>
            <a:r>
              <a:rPr lang="en-US" sz="2400" dirty="0">
                <a:solidFill>
                  <a:srgbClr val="1C2530"/>
                </a:solidFill>
                <a:latin typeface="Futura" pitchFamily="34" charset="0"/>
                <a:ea typeface="Futura" pitchFamily="34" charset="-122"/>
                <a:cs typeface="Futura" pitchFamily="34" charset="-120"/>
              </a:rPr>
              <a:t>, signed in with your Drexel account</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Personal ChatGPT, Claude, Gemini: public or low-risk information only</a:t>
            </a:r>
            <a:endParaRPr lang="en-US" sz="2400" dirty="0"/>
          </a:p>
        </p:txBody>
      </p:sp>
      <p:sp>
        <p:nvSpPr>
          <p:cNvPr id="13" name="Shape 10"/>
          <p:cNvSpPr/>
          <p:nvPr/>
        </p:nvSpPr>
        <p:spPr>
          <a:xfrm>
            <a:off x="9395460" y="2697480"/>
            <a:ext cx="7863840" cy="4206240"/>
          </a:xfrm>
          <a:prstGeom prst="rect">
            <a:avLst/>
          </a:prstGeom>
          <a:solidFill>
            <a:srgbClr val="FFFFFF"/>
          </a:solidFill>
          <a:ln w="9525">
            <a:solidFill>
              <a:srgbClr val="D0D3D4"/>
            </a:solidFill>
            <a:prstDash val="solid"/>
          </a:ln>
        </p:spPr>
      </p:sp>
      <p:sp>
        <p:nvSpPr>
          <p:cNvPr id="14" name="Shape 11"/>
          <p:cNvSpPr/>
          <p:nvPr/>
        </p:nvSpPr>
        <p:spPr>
          <a:xfrm>
            <a:off x="9395460" y="2697480"/>
            <a:ext cx="7863840" cy="777240"/>
          </a:xfrm>
          <a:prstGeom prst="rect">
            <a:avLst/>
          </a:prstGeom>
          <a:solidFill>
            <a:srgbClr val="971B2F"/>
          </a:solidFill>
          <a:ln/>
        </p:spPr>
      </p:sp>
      <p:sp>
        <p:nvSpPr>
          <p:cNvPr id="15" name="Text 12"/>
          <p:cNvSpPr txBox="1"/>
          <p:nvPr/>
        </p:nvSpPr>
        <p:spPr>
          <a:xfrm>
            <a:off x="9715500" y="269748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Never paste in</a:t>
            </a:r>
            <a:endParaRPr lang="en-US" sz="2900" dirty="0"/>
          </a:p>
        </p:txBody>
      </p:sp>
      <p:sp>
        <p:nvSpPr>
          <p:cNvPr id="16" name="Text 13"/>
          <p:cNvSpPr txBox="1"/>
          <p:nvPr/>
        </p:nvSpPr>
        <p:spPr>
          <a:xfrm>
            <a:off x="9715500" y="3749040"/>
            <a:ext cx="7223760" cy="292608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Health information about a person</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Student records or Social Security numbers</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Identifiable research data</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When in doubt, leave it out or make the details up</a:t>
            </a:r>
            <a:endParaRPr lang="en-US" sz="24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294D"/>
        </a:solidFill>
      </p:bgPr>
    </p:bg>
    <p:spTree>
      <p:nvGrpSpPr>
        <p:cNvPr id="1" name=""/>
        <p:cNvGrpSpPr/>
        <p:nvPr/>
      </p:nvGrpSpPr>
      <p:grpSpPr/>
      <p:sp>
        <p:nvSpPr>
          <p:cNvPr id="2" name="Text 0"/>
          <p:cNvSpPr txBox="1"/>
          <p:nvPr/>
        </p:nvSpPr>
        <p:spPr>
          <a:xfrm>
            <a:off x="1028700" y="33832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SECTION 02</a:t>
            </a:r>
            <a:endParaRPr lang="en-US" sz="1800" dirty="0"/>
          </a:p>
        </p:txBody>
      </p:sp>
      <p:sp>
        <p:nvSpPr>
          <p:cNvPr id="3" name="Text 1"/>
          <p:cNvSpPr txBox="1"/>
          <p:nvPr/>
        </p:nvSpPr>
        <p:spPr>
          <a:xfrm>
            <a:off x="1028700" y="3749040"/>
            <a:ext cx="16230600" cy="1097280"/>
          </a:xfrm>
          <a:prstGeom prst="rect">
            <a:avLst/>
          </a:prstGeom>
          <a:noFill/>
          <a:ln/>
        </p:spPr>
        <p:txBody>
          <a:bodyPr wrap="square" lIns="0" tIns="0" rIns="0" bIns="0" rtlCol="0" anchor="ctr"/>
          <a:lstStyle/>
          <a:p>
            <a:pPr indent="0" marL="0">
              <a:buNone/>
            </a:pPr>
            <a:r>
              <a:rPr lang="en-US" sz="7400" b="1" dirty="0">
                <a:solidFill>
                  <a:srgbClr val="FFFFFF"/>
                </a:solidFill>
                <a:latin typeface="Georgia" pitchFamily="34" charset="0"/>
                <a:ea typeface="Georgia" pitchFamily="34" charset="-122"/>
                <a:cs typeface="Georgia" pitchFamily="34" charset="-120"/>
              </a:rPr>
              <a:t>What It Can Do</a:t>
            </a:r>
            <a:endParaRPr lang="en-US" sz="7400" dirty="0"/>
          </a:p>
        </p:txBody>
      </p:sp>
      <p:sp>
        <p:nvSpPr>
          <p:cNvPr id="4" name="Shape 2"/>
          <p:cNvSpPr/>
          <p:nvPr/>
        </p:nvSpPr>
        <p:spPr>
          <a:xfrm>
            <a:off x="1028700" y="5074920"/>
            <a:ext cx="777240" cy="73152"/>
          </a:xfrm>
          <a:prstGeom prst="rect">
            <a:avLst/>
          </a:prstGeom>
          <a:solidFill>
            <a:srgbClr val="FFC600"/>
          </a:solidFill>
          <a:ln/>
        </p:spPr>
        <p:txBody>
          <a:bodyPr/>
          <a:p/>
        </p:txBody>
      </p:sp>
      <p:sp>
        <p:nvSpPr>
          <p:cNvPr id="5" name="Text 3"/>
          <p:cNvSpPr txBox="1"/>
          <p:nvPr/>
        </p:nvSpPr>
        <p:spPr>
          <a:xfrm>
            <a:off x="1028700" y="5486400"/>
            <a:ext cx="13258800" cy="914400"/>
          </a:xfrm>
          <a:prstGeom prst="rect">
            <a:avLst/>
          </a:prstGeom>
          <a:noFill/>
          <a:ln/>
        </p:spPr>
        <p:txBody>
          <a:bodyPr wrap="square" lIns="0" tIns="0" rIns="0" bIns="0" rtlCol="0" anchor="t"/>
          <a:lstStyle/>
          <a:p>
            <a:pPr indent="0" marL="0">
              <a:buNone/>
            </a:pPr>
            <a:r>
              <a:rPr lang="en-US" sz="2800" dirty="0">
                <a:solidFill>
                  <a:srgbClr val="C7D2DF"/>
                </a:solidFill>
                <a:latin typeface="Futura" pitchFamily="34" charset="0"/>
                <a:ea typeface="Futura" pitchFamily="34" charset="-122"/>
                <a:cs typeface="Futura" pitchFamily="34" charset="-120"/>
              </a:rPr>
              <a:t>Six real tasks from public health work: analyze data, review a draft, build slides, sort an inbox, find sources, form student groups, and one look past the chat box.</a:t>
            </a:r>
            <a:endParaRPr lang="en-US" sz="28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i8.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i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i10.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i11.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i12.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07294D"/>
        </a:solidFill>
      </p:bgPr>
    </p:bg>
    <p:spTree>
      <p:nvGrpSpPr>
        <p:cNvPr id="1" name=""/>
        <p:cNvGrpSpPr/>
        <p:nvPr/>
      </p:nvGrpSpPr>
      <p:grpSpPr>
        <a:xfrm>
          <a:off x="0" y="0"/>
          <a:ext cx="0" cy="0"/>
          <a:chOff x="0" y="0"/>
          <a:chExt cx="0" cy="0"/>
        </a:xfrm>
      </p:grpSpPr>
      <p:sp>
        <p:nvSpPr>
          <p:cNvPr id="2" name="Text 0"/>
          <p:cNvSpPr txBox="1"/>
          <p:nvPr/>
        </p:nvSpPr>
        <p:spPr>
          <a:xfrm>
            <a:off x="1028700" y="33832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SECTION 03</a:t>
            </a:r>
            <a:endParaRPr lang="en-US" sz="1800" dirty="0"/>
          </a:p>
        </p:txBody>
      </p:sp>
      <p:sp>
        <p:nvSpPr>
          <p:cNvPr id="3" name="Text 1"/>
          <p:cNvSpPr txBox="1"/>
          <p:nvPr/>
        </p:nvSpPr>
        <p:spPr>
          <a:xfrm>
            <a:off x="1028700" y="3749040"/>
            <a:ext cx="16230600" cy="1097280"/>
          </a:xfrm>
          <a:prstGeom prst="rect">
            <a:avLst/>
          </a:prstGeom>
          <a:noFill/>
          <a:ln/>
        </p:spPr>
        <p:txBody>
          <a:bodyPr wrap="square" lIns="0" tIns="0" rIns="0" bIns="0" rtlCol="0" anchor="ctr"/>
          <a:lstStyle/>
          <a:p>
            <a:pPr indent="0" marL="0">
              <a:buNone/>
            </a:pPr>
            <a:r>
              <a:rPr lang="en-US" sz="7400" b="1" dirty="0">
                <a:solidFill>
                  <a:srgbClr val="FFFFFF"/>
                </a:solidFill>
                <a:latin typeface="Georgia" pitchFamily="34" charset="0"/>
                <a:ea typeface="Georgia" pitchFamily="34" charset="-122"/>
                <a:cs typeface="Georgia" pitchFamily="34" charset="-120"/>
              </a:rPr>
              <a:t>How AI Gets Things Wrong</a:t>
            </a:r>
            <a:endParaRPr lang="en-US" sz="7400" dirty="0"/>
          </a:p>
        </p:txBody>
      </p:sp>
      <p:sp>
        <p:nvSpPr>
          <p:cNvPr id="4" name="Shape 2"/>
          <p:cNvSpPr/>
          <p:nvPr/>
        </p:nvSpPr>
        <p:spPr>
          <a:xfrm>
            <a:off x="1028700" y="5074920"/>
            <a:ext cx="777240" cy="73152"/>
          </a:xfrm>
          <a:prstGeom prst="rect">
            <a:avLst/>
          </a:prstGeom>
          <a:solidFill>
            <a:srgbClr val="FFC600"/>
          </a:solidFill>
          <a:ln/>
        </p:spPr>
        <p:txBody>
          <a:bodyPr/>
          <a:p/>
        </p:txBody>
      </p:sp>
      <p:sp>
        <p:nvSpPr>
          <p:cNvPr id="5" name="Text 3"/>
          <p:cNvSpPr txBox="1"/>
          <p:nvPr/>
        </p:nvSpPr>
        <p:spPr>
          <a:xfrm>
            <a:off x="1028700" y="5486400"/>
            <a:ext cx="13258800" cy="914400"/>
          </a:xfrm>
          <a:prstGeom prst="rect">
            <a:avLst/>
          </a:prstGeom>
          <a:noFill/>
          <a:ln/>
        </p:spPr>
        <p:txBody>
          <a:bodyPr wrap="square" lIns="0" tIns="0" rIns="0" bIns="0" rtlCol="0" anchor="t"/>
          <a:lstStyle/>
          <a:p>
            <a:pPr indent="0" marL="0">
              <a:buNone/>
            </a:pPr>
            <a:r>
              <a:rPr lang="en-US" sz="2800" dirty="0">
                <a:solidFill>
                  <a:srgbClr val="C7D2DF"/>
                </a:solidFill>
                <a:latin typeface="Futura" pitchFamily="34" charset="0"/>
                <a:ea typeface="Futura" pitchFamily="34" charset="-122"/>
                <a:cs typeface="Futura" pitchFamily="34" charset="-120"/>
              </a:rPr>
              <a:t>And who is responsible when it does.</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THREE THINGS TO REMEMBER</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Wrong, Biased, and Yours</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2697480"/>
            <a:ext cx="5029200" cy="4206240"/>
          </a:xfrm>
          <a:prstGeom prst="rect">
            <a:avLst/>
          </a:prstGeom>
          <a:solidFill>
            <a:srgbClr val="FFFFFF"/>
          </a:solidFill>
          <a:ln w="9525">
            <a:solidFill>
              <a:srgbClr val="D0D3D4"/>
            </a:solidFill>
            <a:prstDash val="solid"/>
          </a:ln>
        </p:spPr>
      </p:sp>
      <p:sp>
        <p:nvSpPr>
          <p:cNvPr id="10" name="Shape 7"/>
          <p:cNvSpPr/>
          <p:nvPr/>
        </p:nvSpPr>
        <p:spPr>
          <a:xfrm>
            <a:off x="1028700" y="2697480"/>
            <a:ext cx="5029200" cy="91440"/>
          </a:xfrm>
          <a:prstGeom prst="rect">
            <a:avLst/>
          </a:prstGeom>
          <a:solidFill>
            <a:srgbClr val="07294D"/>
          </a:solidFill>
          <a:ln/>
        </p:spPr>
      </p:sp>
      <p:sp>
        <p:nvSpPr>
          <p:cNvPr id="11" name="Text 8"/>
          <p:cNvSpPr txBox="1"/>
          <p:nvPr/>
        </p:nvSpPr>
        <p:spPr>
          <a:xfrm>
            <a:off x="1394460" y="3108960"/>
            <a:ext cx="4297680" cy="548640"/>
          </a:xfrm>
          <a:prstGeom prst="rect">
            <a:avLst/>
          </a:prstGeom>
          <a:noFill/>
          <a:ln/>
        </p:spPr>
        <p:txBody>
          <a:bodyPr wrap="square" lIns="0" tIns="0" rIns="0" bIns="0" rtlCol="0" anchor="t"/>
          <a:lstStyle/>
          <a:p>
            <a:pPr indent="0" marL="0">
              <a:buNone/>
            </a:pPr>
            <a:r>
              <a:rPr lang="en-US" sz="3100" b="1" dirty="0">
                <a:solidFill>
                  <a:srgbClr val="07294D"/>
                </a:solidFill>
                <a:latin typeface="Georgia" pitchFamily="34" charset="0"/>
                <a:ea typeface="Georgia" pitchFamily="34" charset="-122"/>
                <a:cs typeface="Georgia" pitchFamily="34" charset="-120"/>
              </a:rPr>
              <a:t>It Makes Things Up</a:t>
            </a:r>
            <a:endParaRPr lang="en-US" sz="3100" dirty="0"/>
          </a:p>
        </p:txBody>
      </p:sp>
      <p:sp>
        <p:nvSpPr>
          <p:cNvPr id="12" name="Text 9"/>
          <p:cNvSpPr txBox="1"/>
          <p:nvPr/>
        </p:nvSpPr>
        <p:spPr>
          <a:xfrm>
            <a:off x="1394460" y="3840480"/>
            <a:ext cx="4297680" cy="2743200"/>
          </a:xfrm>
          <a:prstGeom prst="rect">
            <a:avLst/>
          </a:prstGeom>
          <a:noFill/>
          <a:ln/>
        </p:spPr>
        <p:txBody>
          <a:bodyPr wrap="square" lIns="0" tIns="0" rIns="0" bIns="0" rtlCol="0" anchor="t"/>
          <a:lstStyle/>
          <a:p>
            <a:pPr indent="0" marL="0">
              <a:lnSpc>
                <a:spcPct val="125000"/>
              </a:lnSpc>
              <a:buNone/>
            </a:pPr>
            <a:r>
              <a:rPr lang="en-US" sz="2300" dirty="0">
                <a:solidFill>
                  <a:srgbClr val="5A6571"/>
                </a:solidFill>
                <a:latin typeface="Futura" pitchFamily="34" charset="0"/>
                <a:ea typeface="Futura" pitchFamily="34" charset="-122"/>
                <a:cs typeface="Futura" pitchFamily="34" charset="-120"/>
              </a:rPr>
              <a:t>It predicts likely-sounding text, so it can invent facts, numbers, and citations. Check anything that matters.</a:t>
            </a:r>
            <a:endParaRPr lang="en-US" sz="2300" dirty="0"/>
          </a:p>
        </p:txBody>
      </p:sp>
      <p:sp>
        <p:nvSpPr>
          <p:cNvPr id="13" name="Shape 10"/>
          <p:cNvSpPr/>
          <p:nvPr/>
        </p:nvSpPr>
        <p:spPr>
          <a:xfrm>
            <a:off x="6629400" y="2697480"/>
            <a:ext cx="5029200" cy="4206240"/>
          </a:xfrm>
          <a:prstGeom prst="rect">
            <a:avLst/>
          </a:prstGeom>
          <a:solidFill>
            <a:srgbClr val="FFFFFF"/>
          </a:solidFill>
          <a:ln w="9525">
            <a:solidFill>
              <a:srgbClr val="D0D3D4"/>
            </a:solidFill>
            <a:prstDash val="solid"/>
          </a:ln>
        </p:spPr>
      </p:sp>
      <p:sp>
        <p:nvSpPr>
          <p:cNvPr id="14" name="Shape 11"/>
          <p:cNvSpPr/>
          <p:nvPr/>
        </p:nvSpPr>
        <p:spPr>
          <a:xfrm>
            <a:off x="6629400" y="2697480"/>
            <a:ext cx="5029200" cy="91440"/>
          </a:xfrm>
          <a:prstGeom prst="rect">
            <a:avLst/>
          </a:prstGeom>
          <a:solidFill>
            <a:srgbClr val="006699"/>
          </a:solidFill>
          <a:ln/>
        </p:spPr>
      </p:sp>
      <p:sp>
        <p:nvSpPr>
          <p:cNvPr id="15" name="Text 12"/>
          <p:cNvSpPr txBox="1"/>
          <p:nvPr/>
        </p:nvSpPr>
        <p:spPr>
          <a:xfrm>
            <a:off x="6995160" y="3108960"/>
            <a:ext cx="4297680" cy="548640"/>
          </a:xfrm>
          <a:prstGeom prst="rect">
            <a:avLst/>
          </a:prstGeom>
          <a:noFill/>
          <a:ln/>
        </p:spPr>
        <p:txBody>
          <a:bodyPr wrap="square" lIns="0" tIns="0" rIns="0" bIns="0" rtlCol="0" anchor="t"/>
          <a:lstStyle/>
          <a:p>
            <a:pPr indent="0" marL="0">
              <a:buNone/>
            </a:pPr>
            <a:r>
              <a:rPr lang="en-US" sz="3100" b="1" dirty="0">
                <a:solidFill>
                  <a:srgbClr val="07294D"/>
                </a:solidFill>
                <a:latin typeface="Georgia" pitchFamily="34" charset="0"/>
                <a:ea typeface="Georgia" pitchFamily="34" charset="-122"/>
                <a:cs typeface="Georgia" pitchFamily="34" charset="-120"/>
              </a:rPr>
              <a:t>It Can Be Biased</a:t>
            </a:r>
            <a:endParaRPr lang="en-US" sz="3100" dirty="0"/>
          </a:p>
        </p:txBody>
      </p:sp>
      <p:sp>
        <p:nvSpPr>
          <p:cNvPr id="16" name="Text 13"/>
          <p:cNvSpPr txBox="1"/>
          <p:nvPr/>
        </p:nvSpPr>
        <p:spPr>
          <a:xfrm>
            <a:off x="6995160" y="3840480"/>
            <a:ext cx="4297680" cy="2743200"/>
          </a:xfrm>
          <a:prstGeom prst="rect">
            <a:avLst/>
          </a:prstGeom>
          <a:noFill/>
          <a:ln/>
        </p:spPr>
        <p:txBody>
          <a:bodyPr wrap="square" lIns="0" tIns="0" rIns="0" bIns="0" rtlCol="0" anchor="t"/>
          <a:lstStyle/>
          <a:p>
            <a:pPr indent="0" marL="0">
              <a:lnSpc>
                <a:spcPct val="125000"/>
              </a:lnSpc>
              <a:buNone/>
            </a:pPr>
            <a:r>
              <a:rPr lang="en-US" sz="2300" dirty="0">
                <a:solidFill>
                  <a:srgbClr val="5A6571"/>
                </a:solidFill>
                <a:latin typeface="Futura" pitchFamily="34" charset="0"/>
                <a:ea typeface="Futura" pitchFamily="34" charset="-122"/>
                <a:cs typeface="Futura" pitchFamily="34" charset="-120"/>
              </a:rPr>
              <a:t>It learned from writing that reflects society's inequities, so answers can repeat stereotypes. Our work affects real communities.</a:t>
            </a:r>
            <a:endParaRPr lang="en-US" sz="2300" dirty="0"/>
          </a:p>
        </p:txBody>
      </p:sp>
      <p:sp>
        <p:nvSpPr>
          <p:cNvPr id="17" name="Shape 14"/>
          <p:cNvSpPr/>
          <p:nvPr/>
        </p:nvSpPr>
        <p:spPr>
          <a:xfrm>
            <a:off x="12230100" y="2697480"/>
            <a:ext cx="5029200" cy="4206240"/>
          </a:xfrm>
          <a:prstGeom prst="rect">
            <a:avLst/>
          </a:prstGeom>
          <a:solidFill>
            <a:srgbClr val="FFFFFF"/>
          </a:solidFill>
          <a:ln w="9525">
            <a:solidFill>
              <a:srgbClr val="D0D3D4"/>
            </a:solidFill>
            <a:prstDash val="solid"/>
          </a:ln>
        </p:spPr>
      </p:sp>
      <p:sp>
        <p:nvSpPr>
          <p:cNvPr id="18" name="Shape 15"/>
          <p:cNvSpPr/>
          <p:nvPr/>
        </p:nvSpPr>
        <p:spPr>
          <a:xfrm>
            <a:off x="12230100" y="2697480"/>
            <a:ext cx="5029200" cy="91440"/>
          </a:xfrm>
          <a:prstGeom prst="rect">
            <a:avLst/>
          </a:prstGeom>
          <a:solidFill>
            <a:srgbClr val="FFC600"/>
          </a:solidFill>
          <a:ln/>
        </p:spPr>
      </p:sp>
      <p:sp>
        <p:nvSpPr>
          <p:cNvPr id="19" name="Text 16"/>
          <p:cNvSpPr txBox="1"/>
          <p:nvPr/>
        </p:nvSpPr>
        <p:spPr>
          <a:xfrm>
            <a:off x="12595860" y="3108960"/>
            <a:ext cx="4297680" cy="548640"/>
          </a:xfrm>
          <a:prstGeom prst="rect">
            <a:avLst/>
          </a:prstGeom>
          <a:noFill/>
          <a:ln/>
        </p:spPr>
        <p:txBody>
          <a:bodyPr wrap="square" lIns="0" tIns="0" rIns="0" bIns="0" rtlCol="0" anchor="t"/>
          <a:lstStyle/>
          <a:p>
            <a:pPr indent="0" marL="0">
              <a:buNone/>
            </a:pPr>
            <a:r>
              <a:rPr lang="en-US" sz="3100" b="1" dirty="0">
                <a:solidFill>
                  <a:srgbClr val="07294D"/>
                </a:solidFill>
                <a:latin typeface="Georgia" pitchFamily="34" charset="0"/>
                <a:ea typeface="Georgia" pitchFamily="34" charset="-122"/>
                <a:cs typeface="Georgia" pitchFamily="34" charset="-120"/>
              </a:rPr>
              <a:t>You Are Responsible</a:t>
            </a:r>
            <a:endParaRPr lang="en-US" sz="3100" dirty="0"/>
          </a:p>
        </p:txBody>
      </p:sp>
      <p:sp>
        <p:nvSpPr>
          <p:cNvPr id="20" name="Text 17"/>
          <p:cNvSpPr txBox="1"/>
          <p:nvPr/>
        </p:nvSpPr>
        <p:spPr>
          <a:xfrm>
            <a:off x="12595860" y="3840480"/>
            <a:ext cx="4297680" cy="2743200"/>
          </a:xfrm>
          <a:prstGeom prst="rect">
            <a:avLst/>
          </a:prstGeom>
          <a:noFill/>
          <a:ln/>
        </p:spPr>
        <p:txBody>
          <a:bodyPr wrap="square" lIns="0" tIns="0" rIns="0" bIns="0" rtlCol="0" anchor="t"/>
          <a:lstStyle/>
          <a:p>
            <a:pPr indent="0" marL="0">
              <a:lnSpc>
                <a:spcPct val="125000"/>
              </a:lnSpc>
              <a:buNone/>
            </a:pPr>
            <a:r>
              <a:rPr lang="en-US" sz="2300" dirty="0">
                <a:solidFill>
                  <a:srgbClr val="5A6571"/>
                </a:solidFill>
                <a:latin typeface="Futura" pitchFamily="34" charset="0"/>
                <a:ea typeface="Futura" pitchFamily="34" charset="-122"/>
                <a:cs typeface="Futura" pitchFamily="34" charset="-120"/>
              </a:rPr>
              <a:t>If your name is on it, you own it: accuracy, fairness, and tone. “The AI wrote it” is never the answer.</a:t>
            </a:r>
            <a:endParaRPr lang="en-US" sz="2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07294D"/>
        </a:solidFill>
      </p:bgPr>
    </p:bg>
    <p:spTree>
      <p:nvGrpSpPr>
        <p:cNvPr id="1" name=""/>
        <p:cNvGrpSpPr/>
        <p:nvPr/>
      </p:nvGrpSpPr>
      <p:grpSpPr>
        <a:xfrm>
          <a:off x="0" y="0"/>
          <a:ext cx="0" cy="0"/>
          <a:chOff x="0" y="0"/>
          <a:chExt cx="0" cy="0"/>
        </a:xfrm>
      </p:grpSpPr>
      <p:sp>
        <p:nvSpPr>
          <p:cNvPr id="2" name="Text 0"/>
          <p:cNvSpPr txBox="1"/>
          <p:nvPr/>
        </p:nvSpPr>
        <p:spPr>
          <a:xfrm>
            <a:off x="1028700" y="33832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SECTION 04</a:t>
            </a:r>
            <a:endParaRPr lang="en-US" sz="1800" dirty="0"/>
          </a:p>
        </p:txBody>
      </p:sp>
      <p:sp>
        <p:nvSpPr>
          <p:cNvPr id="3" name="Text 1"/>
          <p:cNvSpPr txBox="1"/>
          <p:nvPr/>
        </p:nvSpPr>
        <p:spPr>
          <a:xfrm>
            <a:off x="1028700" y="3749040"/>
            <a:ext cx="16230600" cy="1097280"/>
          </a:xfrm>
          <a:prstGeom prst="rect">
            <a:avLst/>
          </a:prstGeom>
          <a:noFill/>
          <a:ln/>
        </p:spPr>
        <p:txBody>
          <a:bodyPr wrap="square" lIns="0" tIns="0" rIns="0" bIns="0" rtlCol="0" anchor="ctr"/>
          <a:lstStyle/>
          <a:p>
            <a:pPr indent="0" marL="0">
              <a:buNone/>
            </a:pPr>
            <a:r>
              <a:rPr lang="en-US" sz="7400" b="1" dirty="0">
                <a:solidFill>
                  <a:srgbClr val="FFFFFF"/>
                </a:solidFill>
                <a:latin typeface="Georgia" pitchFamily="34" charset="0"/>
                <a:ea typeface="Georgia" pitchFamily="34" charset="-122"/>
                <a:cs typeface="Georgia" pitchFamily="34" charset="-120"/>
              </a:rPr>
              <a:t>Hands-On</a:t>
            </a:r>
            <a:endParaRPr lang="en-US" sz="7400" dirty="0"/>
          </a:p>
        </p:txBody>
      </p:sp>
      <p:sp>
        <p:nvSpPr>
          <p:cNvPr id="4" name="Shape 2"/>
          <p:cNvSpPr/>
          <p:nvPr/>
        </p:nvSpPr>
        <p:spPr>
          <a:xfrm>
            <a:off x="1028700" y="5074920"/>
            <a:ext cx="777240" cy="73152"/>
          </a:xfrm>
          <a:prstGeom prst="rect">
            <a:avLst/>
          </a:prstGeom>
          <a:solidFill>
            <a:srgbClr val="FFC600"/>
          </a:solidFill>
          <a:ln/>
        </p:spPr>
        <p:txBody>
          <a:bodyPr/>
          <a:p/>
        </p:txBody>
      </p:sp>
      <p:sp>
        <p:nvSpPr>
          <p:cNvPr id="5" name="Text 3"/>
          <p:cNvSpPr txBox="1"/>
          <p:nvPr/>
        </p:nvSpPr>
        <p:spPr>
          <a:xfrm>
            <a:off x="1028700" y="5486400"/>
            <a:ext cx="13258800" cy="914400"/>
          </a:xfrm>
          <a:prstGeom prst="rect">
            <a:avLst/>
          </a:prstGeom>
          <a:noFill/>
          <a:ln/>
        </p:spPr>
        <p:txBody>
          <a:bodyPr wrap="square" lIns="0" tIns="0" rIns="0" bIns="0" rtlCol="0" anchor="t"/>
          <a:lstStyle/>
          <a:p>
            <a:pPr indent="0" marL="0">
              <a:buNone/>
            </a:pPr>
            <a:r>
              <a:rPr lang="en-US" sz="2800" dirty="0">
                <a:solidFill>
                  <a:srgbClr val="C7D2DF"/>
                </a:solidFill>
                <a:latin typeface="Futura" pitchFamily="34" charset="0"/>
                <a:ea typeface="Futura" pitchFamily="34" charset="-122"/>
                <a:cs typeface="Futura" pitchFamily="34" charset="-120"/>
              </a:rPr>
              <a:t>A guided tour, three first requests, and a simple recipe for better answers.</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GUIDED TOUR · ~10 MIN · FOLLOW ALONG</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ChatGPT Edu, Step by Step</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2697480"/>
            <a:ext cx="502920" cy="502920"/>
          </a:xfrm>
          <a:prstGeom prst="ellipse">
            <a:avLst/>
          </a:prstGeom>
          <a:solidFill>
            <a:srgbClr val="FFC600"/>
          </a:solidFill>
          <a:ln/>
        </p:spPr>
      </p:sp>
      <p:sp>
        <p:nvSpPr>
          <p:cNvPr id="10" name="Text 7"/>
          <p:cNvSpPr txBox="1"/>
          <p:nvPr/>
        </p:nvSpPr>
        <p:spPr>
          <a:xfrm>
            <a:off x="1028700" y="269748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1</a:t>
            </a:r>
            <a:endParaRPr lang="en-US" sz="2200" dirty="0"/>
          </a:p>
        </p:txBody>
      </p:sp>
      <p:sp>
        <p:nvSpPr>
          <p:cNvPr id="11" name="Text 8"/>
          <p:cNvSpPr txBox="1"/>
          <p:nvPr/>
        </p:nvSpPr>
        <p:spPr>
          <a:xfrm>
            <a:off x="1805940" y="269748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Sign in with your Drexel account. Check you are in the Drexel workspace.</a:t>
            </a:r>
            <a:endParaRPr lang="en-US" sz="2500" dirty="0"/>
          </a:p>
        </p:txBody>
      </p:sp>
      <p:sp>
        <p:nvSpPr>
          <p:cNvPr id="12" name="Shape 9"/>
          <p:cNvSpPr/>
          <p:nvPr/>
        </p:nvSpPr>
        <p:spPr>
          <a:xfrm>
            <a:off x="1028700" y="3566160"/>
            <a:ext cx="502920" cy="502920"/>
          </a:xfrm>
          <a:prstGeom prst="ellipse">
            <a:avLst/>
          </a:prstGeom>
          <a:solidFill>
            <a:srgbClr val="FFC600"/>
          </a:solidFill>
          <a:ln/>
        </p:spPr>
      </p:sp>
      <p:sp>
        <p:nvSpPr>
          <p:cNvPr id="13" name="Text 10"/>
          <p:cNvSpPr txBox="1"/>
          <p:nvPr/>
        </p:nvSpPr>
        <p:spPr>
          <a:xfrm>
            <a:off x="1028700" y="356616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2</a:t>
            </a:r>
            <a:endParaRPr lang="en-US" sz="2200" dirty="0"/>
          </a:p>
        </p:txBody>
      </p:sp>
      <p:sp>
        <p:nvSpPr>
          <p:cNvPr id="14" name="Text 11"/>
          <p:cNvSpPr txBox="1"/>
          <p:nvPr/>
        </p:nvSpPr>
        <p:spPr>
          <a:xfrm>
            <a:off x="1805940" y="356616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Find the message box at the bottom of the screen.</a:t>
            </a:r>
            <a:endParaRPr lang="en-US" sz="2500" dirty="0"/>
          </a:p>
        </p:txBody>
      </p:sp>
      <p:sp>
        <p:nvSpPr>
          <p:cNvPr id="15" name="Shape 12"/>
          <p:cNvSpPr/>
          <p:nvPr/>
        </p:nvSpPr>
        <p:spPr>
          <a:xfrm>
            <a:off x="1028700" y="4434840"/>
            <a:ext cx="502920" cy="502920"/>
          </a:xfrm>
          <a:prstGeom prst="ellipse">
            <a:avLst/>
          </a:prstGeom>
          <a:solidFill>
            <a:srgbClr val="FFC600"/>
          </a:solidFill>
          <a:ln/>
        </p:spPr>
      </p:sp>
      <p:sp>
        <p:nvSpPr>
          <p:cNvPr id="16" name="Text 13"/>
          <p:cNvSpPr txBox="1"/>
          <p:nvPr/>
        </p:nvSpPr>
        <p:spPr>
          <a:xfrm>
            <a:off x="1028700" y="443484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3</a:t>
            </a:r>
            <a:endParaRPr lang="en-US" sz="2200" dirty="0"/>
          </a:p>
        </p:txBody>
      </p:sp>
      <p:sp>
        <p:nvSpPr>
          <p:cNvPr id="17" name="Text 14"/>
          <p:cNvSpPr txBox="1"/>
          <p:nvPr/>
        </p:nvSpPr>
        <p:spPr>
          <a:xfrm>
            <a:off x="1805940" y="443484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Type: “In two sentences, what can you help a public health staff member with?”</a:t>
            </a:r>
            <a:endParaRPr lang="en-US" sz="2500" dirty="0"/>
          </a:p>
        </p:txBody>
      </p:sp>
      <p:sp>
        <p:nvSpPr>
          <p:cNvPr id="18" name="Shape 15"/>
          <p:cNvSpPr/>
          <p:nvPr/>
        </p:nvSpPr>
        <p:spPr>
          <a:xfrm>
            <a:off x="1028700" y="5303520"/>
            <a:ext cx="502920" cy="502920"/>
          </a:xfrm>
          <a:prstGeom prst="ellipse">
            <a:avLst/>
          </a:prstGeom>
          <a:solidFill>
            <a:srgbClr val="FFC600"/>
          </a:solidFill>
          <a:ln/>
        </p:spPr>
      </p:sp>
      <p:sp>
        <p:nvSpPr>
          <p:cNvPr id="19" name="Text 16"/>
          <p:cNvSpPr txBox="1"/>
          <p:nvPr/>
        </p:nvSpPr>
        <p:spPr>
          <a:xfrm>
            <a:off x="1028700" y="530352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4</a:t>
            </a:r>
            <a:endParaRPr lang="en-US" sz="2200" dirty="0"/>
          </a:p>
        </p:txBody>
      </p:sp>
      <p:sp>
        <p:nvSpPr>
          <p:cNvPr id="20" name="Text 17"/>
          <p:cNvSpPr txBox="1"/>
          <p:nvPr/>
        </p:nvSpPr>
        <p:spPr>
          <a:xfrm>
            <a:off x="1805940" y="530352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Follow up in the same chat: “Give me three examples.”</a:t>
            </a:r>
            <a:endParaRPr lang="en-US" sz="2500" dirty="0"/>
          </a:p>
        </p:txBody>
      </p:sp>
      <p:sp>
        <p:nvSpPr>
          <p:cNvPr id="21" name="Shape 18"/>
          <p:cNvSpPr/>
          <p:nvPr/>
        </p:nvSpPr>
        <p:spPr>
          <a:xfrm>
            <a:off x="1028700" y="6172200"/>
            <a:ext cx="502920" cy="502920"/>
          </a:xfrm>
          <a:prstGeom prst="ellipse">
            <a:avLst/>
          </a:prstGeom>
          <a:solidFill>
            <a:srgbClr val="FFC600"/>
          </a:solidFill>
          <a:ln/>
        </p:spPr>
      </p:sp>
      <p:sp>
        <p:nvSpPr>
          <p:cNvPr id="22" name="Text 19"/>
          <p:cNvSpPr txBox="1"/>
          <p:nvPr/>
        </p:nvSpPr>
        <p:spPr>
          <a:xfrm>
            <a:off x="1028700" y="617220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5</a:t>
            </a:r>
            <a:endParaRPr lang="en-US" sz="2200" dirty="0"/>
          </a:p>
        </p:txBody>
      </p:sp>
      <p:sp>
        <p:nvSpPr>
          <p:cNvPr id="23" name="Text 20"/>
          <p:cNvSpPr txBox="1"/>
          <p:nvPr/>
        </p:nvSpPr>
        <p:spPr>
          <a:xfrm>
            <a:off x="1805940" y="617220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Copy the answer with the copy icon.</a:t>
            </a:r>
            <a:endParaRPr lang="en-US" sz="2500" dirty="0"/>
          </a:p>
        </p:txBody>
      </p:sp>
      <p:sp>
        <p:nvSpPr>
          <p:cNvPr id="24" name="Shape 21"/>
          <p:cNvSpPr/>
          <p:nvPr/>
        </p:nvSpPr>
        <p:spPr>
          <a:xfrm>
            <a:off x="1028700" y="7040880"/>
            <a:ext cx="502920" cy="502920"/>
          </a:xfrm>
          <a:prstGeom prst="ellipse">
            <a:avLst/>
          </a:prstGeom>
          <a:solidFill>
            <a:srgbClr val="FFC600"/>
          </a:solidFill>
          <a:ln/>
        </p:spPr>
      </p:sp>
      <p:sp>
        <p:nvSpPr>
          <p:cNvPr id="25" name="Text 22"/>
          <p:cNvSpPr txBox="1"/>
          <p:nvPr/>
        </p:nvSpPr>
        <p:spPr>
          <a:xfrm>
            <a:off x="1028700" y="704088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6</a:t>
            </a:r>
            <a:endParaRPr lang="en-US" sz="2200" dirty="0"/>
          </a:p>
        </p:txBody>
      </p:sp>
      <p:sp>
        <p:nvSpPr>
          <p:cNvPr id="26" name="Text 23"/>
          <p:cNvSpPr txBox="1"/>
          <p:nvPr/>
        </p:nvSpPr>
        <p:spPr>
          <a:xfrm>
            <a:off x="1805940" y="704088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Click “New chat.” It does not remember the old one.</a:t>
            </a:r>
            <a:endParaRPr lang="en-US" sz="2500" dirty="0"/>
          </a:p>
        </p:txBody>
      </p:sp>
      <p:sp>
        <p:nvSpPr>
          <p:cNvPr id="27" name="Shape 24"/>
          <p:cNvSpPr/>
          <p:nvPr/>
        </p:nvSpPr>
        <p:spPr>
          <a:xfrm>
            <a:off x="1028700" y="7909560"/>
            <a:ext cx="502920" cy="502920"/>
          </a:xfrm>
          <a:prstGeom prst="ellipse">
            <a:avLst/>
          </a:prstGeom>
          <a:solidFill>
            <a:srgbClr val="FFC600"/>
          </a:solidFill>
          <a:ln/>
        </p:spPr>
      </p:sp>
      <p:sp>
        <p:nvSpPr>
          <p:cNvPr id="28" name="Text 25"/>
          <p:cNvSpPr txBox="1"/>
          <p:nvPr/>
        </p:nvSpPr>
        <p:spPr>
          <a:xfrm>
            <a:off x="1028700" y="790956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7</a:t>
            </a:r>
            <a:endParaRPr lang="en-US" sz="2200" dirty="0"/>
          </a:p>
        </p:txBody>
      </p:sp>
      <p:sp>
        <p:nvSpPr>
          <p:cNvPr id="29" name="Text 26"/>
          <p:cNvSpPr txBox="1"/>
          <p:nvPr/>
        </p:nvSpPr>
        <p:spPr>
          <a:xfrm>
            <a:off x="1805940" y="790956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Find past chats in the list on the left.</a:t>
            </a:r>
            <a:endParaRPr lang="en-US" sz="2500" dirty="0"/>
          </a:p>
        </p:txBody>
      </p:sp>
      <p:sp>
        <p:nvSpPr>
          <p:cNvPr id="90" name="Zoom cue"/>
          <p:cNvSpPr txBox="1"/>
          <p:nvPr/>
        </p:nvSpPr>
        <p:spPr>
          <a:xfrm>
            <a:off x="1028700" y="8778240"/>
            <a:ext cx="16230600" cy="411480"/>
          </a:xfrm>
          <a:prstGeom prst="rect">
            <a:avLst/>
          </a:prstGeom>
          <a:noFill/>
          <a:ln/>
        </p:spPr>
        <p:txBody>
          <a:bodyPr wrap="square" lIns="0" tIns="0" rIns="0" bIns="0" rtlCol="0" anchor="ctr"/>
          <a:lstStyle/>
          <a:p>
            <a:pPr indent="0" marL="0">
              <a:buNone/>
            </a:pPr>
            <a:r>
              <a:rPr lang="en-US" sz="1700" i="1" dirty="0">
                <a:solidFill>
                  <a:srgbClr val="5A6571"/>
                </a:solidFill>
                <a:latin typeface="Futura" pitchFamily="34" charset="0"/>
                <a:ea typeface="Futura" pitchFamily="34" charset="-122"/>
                <a:cs typeface="Futura" pitchFamily="34" charset="-120"/>
              </a:rPr>
              <a:t>React with a thumbs-up in Zoom after each step. Stuck? Say so in the chat.</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ACTIVITY 1 · ~11 MIN</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Your First Three Requests</a:t>
            </a:r>
            <a:endParaRPr lang="en-US" sz="5500" dirty="0"/>
          </a:p>
        </p:txBody>
      </p:sp>
      <p:sp>
        <p:nvSpPr>
          <p:cNvPr id="4" name="Shape 2"/>
          <p:cNvSpPr/>
          <p:nvPr/>
        </p:nvSpPr>
        <p:spPr>
          <a:xfrm>
            <a:off x="1028700" y="2103120"/>
            <a:ext cx="777240" cy="73152"/>
          </a:xfrm>
          <a:prstGeom prst="rect">
            <a:avLst/>
          </a:prstGeom>
          <a:solidFill>
            <a:srgbClr val="FFC600"/>
          </a:solidFill>
          <a:ln/>
        </p:spPr>
        <p:txBody>
          <a:bodyPr/>
          <a:p/>
        </p:txBody>
      </p:sp>
      <p:sp>
        <p:nvSpPr>
          <p:cNvPr id="5" name="Shape 3"/>
          <p:cNvSpPr/>
          <p:nvPr/>
        </p:nvSpPr>
        <p:spPr>
          <a:xfrm>
            <a:off x="1028700" y="9646920"/>
            <a:ext cx="16230600" cy="0"/>
          </a:xfrm>
          <a:prstGeom prst="line">
            <a:avLst/>
          </a:prstGeom>
          <a:noFill/>
          <a:ln w="9525">
            <a:solidFill>
              <a:srgbClr val="D0D3D4"/>
            </a:solidFill>
            <a:prstDash val="solid"/>
          </a:ln>
        </p:spPr>
        <p:txBody>
          <a:bodyPr/>
          <a:p/>
        </p:txBody>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Text 6"/>
          <p:cNvSpPr txBox="1"/>
          <p:nvPr/>
        </p:nvSpPr>
        <p:spPr>
          <a:xfrm>
            <a:off x="1028700" y="2697480"/>
            <a:ext cx="14904720" cy="914400"/>
          </a:xfrm>
          <a:prstGeom prst="rect">
            <a:avLst/>
          </a:prstGeom>
          <a:noFill/>
          <a:ln/>
        </p:spPr>
        <p:txBody>
          <a:bodyPr wrap="square" lIns="0" tIns="0" rIns="0" bIns="0" rtlCol="0" anchor="t"/>
          <a:lstStyle/>
          <a:p>
            <a:pPr indent="0" marL="0">
              <a:lnSpc>
                <a:spcPct val="125000"/>
              </a:lnSpc>
              <a:buNone/>
            </a:pPr>
            <a:r>
              <a:rPr lang="en-US" sz="2900" dirty="0">
                <a:solidFill>
                  <a:srgbClr val="1C2530"/>
                </a:solidFill>
                <a:latin typeface="Futura" pitchFamily="34" charset="0"/>
                <a:ea typeface="Futura" pitchFamily="34" charset="-122"/>
                <a:cs typeface="Futura" pitchFamily="34" charset="-120"/>
              </a:rPr>
              <a:t>Copy each prompt from the workshop page into ChatGPT Edu, one at a time. There are no wrong answers.</a:t>
            </a:r>
            <a:endParaRPr lang="en-US" sz="2900" dirty="0"/>
          </a:p>
        </p:txBody>
      </p:sp>
      <p:sp>
        <p:nvSpPr>
          <p:cNvPr id="10" name="Text 7"/>
          <p:cNvSpPr txBox="1"/>
          <p:nvPr/>
        </p:nvSpPr>
        <p:spPr>
          <a:xfrm>
            <a:off x="1028700" y="4343400"/>
            <a:ext cx="14904720" cy="365760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500" b="1" dirty="0">
                <a:solidFill>
                  <a:srgbClr val="1C2530"/>
                </a:solidFill>
                <a:latin typeface="Futura" pitchFamily="34" charset="0"/>
                <a:ea typeface="Futura" pitchFamily="34" charset="-122"/>
                <a:cs typeface="Futura" pitchFamily="34" charset="-120"/>
              </a:rPr>
              <a:t>Summarize: </a:t>
            </a:r>
            <a:pPr indent="0" marL="0">
              <a:lnSpc>
                <a:spcPct val="120000"/>
              </a:lnSpc>
              <a:buNone/>
            </a:pPr>
            <a:r>
              <a:rPr lang="en-US" sz="2500" dirty="0">
                <a:solidFill>
                  <a:srgbClr val="1C2530"/>
                </a:solidFill>
                <a:latin typeface="Futura" pitchFamily="34" charset="0"/>
                <a:ea typeface="Futura" pitchFamily="34" charset="-122"/>
                <a:cs typeface="Futura" pitchFamily="34" charset="-120"/>
              </a:rPr>
              <a:t>a short paragraph on pedestrian deaths, in 3 bullet points.</a:t>
            </a:r>
            <a:endParaRPr lang="en-US" sz="2500" dirty="0"/>
          </a:p>
          <a:p>
            <a:pPr marL="279400" indent="-279400">
              <a:lnSpc>
                <a:spcPct val="120000"/>
              </a:lnSpc>
              <a:spcAft>
                <a:spcPts val="1200"/>
              </a:spcAft>
              <a:buSzPct val="100000"/>
              <a:buChar char="•"/>
            </a:pPr>
            <a:r>
              <a:rPr lang="en-US" sz="2500" b="1" dirty="0">
                <a:solidFill>
                  <a:srgbClr val="1C2530"/>
                </a:solidFill>
                <a:latin typeface="Futura" pitchFamily="34" charset="0"/>
                <a:ea typeface="Futura" pitchFamily="34" charset="-122"/>
                <a:cs typeface="Futura" pitchFamily="34" charset="-120"/>
              </a:rPr>
              <a:t>Draft: </a:t>
            </a:r>
            <a:pPr indent="0" marL="0">
              <a:lnSpc>
                <a:spcPct val="120000"/>
              </a:lnSpc>
              <a:buNone/>
            </a:pPr>
            <a:r>
              <a:rPr lang="en-US" sz="2500" dirty="0">
                <a:solidFill>
                  <a:srgbClr val="1C2530"/>
                </a:solidFill>
                <a:latin typeface="Futura" pitchFamily="34" charset="0"/>
                <a:ea typeface="Futura" pitchFamily="34" charset="-122"/>
                <a:cs typeface="Futura" pitchFamily="34" charset="-120"/>
              </a:rPr>
              <a:t>a friendly reminder email to a committee, under 100 words.</a:t>
            </a:r>
            <a:endParaRPr lang="en-US" sz="2500" dirty="0"/>
          </a:p>
          <a:p>
            <a:pPr marL="279400" indent="-279400">
              <a:lnSpc>
                <a:spcPct val="120000"/>
              </a:lnSpc>
              <a:spcAft>
                <a:spcPts val="1200"/>
              </a:spcAft>
              <a:buSzPct val="100000"/>
              <a:buChar char="•"/>
            </a:pPr>
            <a:r>
              <a:rPr lang="en-US" sz="2500" b="1" dirty="0">
                <a:solidFill>
                  <a:srgbClr val="1C2530"/>
                </a:solidFill>
                <a:latin typeface="Futura" pitchFamily="34" charset="0"/>
                <a:ea typeface="Futura" pitchFamily="34" charset="-122"/>
                <a:cs typeface="Futura" pitchFamily="34" charset="-120"/>
              </a:rPr>
              <a:t>Explain: </a:t>
            </a:r>
            <a:pPr indent="0" marL="0">
              <a:lnSpc>
                <a:spcPct val="120000"/>
              </a:lnSpc>
              <a:buNone/>
            </a:pPr>
            <a:r>
              <a:rPr lang="en-US" sz="2500" dirty="0">
                <a:solidFill>
                  <a:srgbClr val="1C2530"/>
                </a:solidFill>
                <a:latin typeface="Futura" pitchFamily="34" charset="0"/>
                <a:ea typeface="Futura" pitchFamily="34" charset="-122"/>
                <a:cs typeface="Futura" pitchFamily="34" charset="-120"/>
              </a:rPr>
              <a:t>what a “data use agreement” is, in plain language.</a:t>
            </a:r>
            <a:endParaRPr lang="en-US" sz="2500" dirty="0"/>
          </a:p>
          <a:p>
            <a:pPr marL="279400" indent="-279400">
              <a:lnSpc>
                <a:spcPct val="120000"/>
              </a:lnSpc>
              <a:spcAft>
                <a:spcPts val="1200"/>
              </a:spcAft>
              <a:buSzPct val="100000"/>
              <a:buChar char="•"/>
            </a:pPr>
            <a:r>
              <a:rPr lang="en-US" sz="2500" b="1" dirty="0">
                <a:solidFill>
                  <a:srgbClr val="1C2530"/>
                </a:solidFill>
                <a:latin typeface="Futura" pitchFamily="34" charset="0"/>
                <a:ea typeface="Futura" pitchFamily="34" charset="-122"/>
                <a:cs typeface="Futura" pitchFamily="34" charset="-120"/>
              </a:rPr>
              <a:t>Then follow up: </a:t>
            </a:r>
            <a:pPr indent="0" marL="0">
              <a:lnSpc>
                <a:spcPct val="120000"/>
              </a:lnSpc>
              <a:buNone/>
            </a:pPr>
            <a:r>
              <a:rPr lang="en-US" sz="2500" dirty="0">
                <a:solidFill>
                  <a:srgbClr val="1C2530"/>
                </a:solidFill>
                <a:latin typeface="Futura" pitchFamily="34" charset="0"/>
                <a:ea typeface="Futura" pitchFamily="34" charset="-122"/>
                <a:cs typeface="Futura" pitchFamily="34" charset="-120"/>
              </a:rPr>
              <a:t>“Make it shorter,” “More formal,” or “Add a sentence about ___.”</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ACTIVITY 2 · ~11 MIN</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Four Questions Before You Type</a:t>
            </a:r>
            <a:endParaRPr lang="en-US" sz="5500" dirty="0"/>
          </a:p>
        </p:txBody>
      </p:sp>
      <p:sp>
        <p:nvSpPr>
          <p:cNvPr id="4" name="Shape 2"/>
          <p:cNvSpPr/>
          <p:nvPr/>
        </p:nvSpPr>
        <p:spPr>
          <a:xfrm>
            <a:off x="1028700" y="2103120"/>
            <a:ext cx="777240" cy="73152"/>
          </a:xfrm>
          <a:prstGeom prst="rect">
            <a:avLst/>
          </a:prstGeom>
          <a:solidFill>
            <a:srgbClr val="FFC600"/>
          </a:solidFill>
          <a:ln/>
        </p:spPr>
        <p:txBody>
          <a:bodyPr/>
          <a:p/>
        </p:txBody>
      </p:sp>
      <p:sp>
        <p:nvSpPr>
          <p:cNvPr id="5" name="Shape 3"/>
          <p:cNvSpPr/>
          <p:nvPr/>
        </p:nvSpPr>
        <p:spPr>
          <a:xfrm>
            <a:off x="1028700" y="9646920"/>
            <a:ext cx="16230600" cy="0"/>
          </a:xfrm>
          <a:prstGeom prst="line">
            <a:avLst/>
          </a:prstGeom>
          <a:noFill/>
          <a:ln w="9525">
            <a:solidFill>
              <a:srgbClr val="D0D3D4"/>
            </a:solidFill>
            <a:prstDash val="solid"/>
          </a:ln>
        </p:spPr>
        <p:txBody>
          <a:bodyPr/>
          <a:p/>
        </p:txBody>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2697480"/>
            <a:ext cx="7863840" cy="4480560"/>
          </a:xfrm>
          <a:prstGeom prst="rect">
            <a:avLst/>
          </a:prstGeom>
          <a:solidFill>
            <a:srgbClr val="FFFFFF"/>
          </a:solidFill>
          <a:ln w="9525">
            <a:solidFill>
              <a:srgbClr val="D0D3D4"/>
            </a:solidFill>
            <a:prstDash val="solid"/>
          </a:ln>
        </p:spPr>
        <p:txBody>
          <a:bodyPr/>
          <a:p/>
        </p:txBody>
      </p:sp>
      <p:sp>
        <p:nvSpPr>
          <p:cNvPr id="10" name="Shape 7"/>
          <p:cNvSpPr/>
          <p:nvPr/>
        </p:nvSpPr>
        <p:spPr>
          <a:xfrm>
            <a:off x="1028700" y="2697480"/>
            <a:ext cx="7863840" cy="777240"/>
          </a:xfrm>
          <a:prstGeom prst="rect">
            <a:avLst/>
          </a:prstGeom>
          <a:solidFill>
            <a:srgbClr val="006699"/>
          </a:solidFill>
          <a:ln/>
        </p:spPr>
        <p:txBody>
          <a:bodyPr/>
          <a:p/>
        </p:txBody>
      </p:sp>
      <p:sp>
        <p:nvSpPr>
          <p:cNvPr id="11" name="Text 8"/>
          <p:cNvSpPr txBox="1"/>
          <p:nvPr/>
        </p:nvSpPr>
        <p:spPr>
          <a:xfrm>
            <a:off x="1348740" y="269748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PTCF</a:t>
            </a:r>
            <a:endParaRPr lang="en-US" sz="2900" dirty="0"/>
          </a:p>
        </p:txBody>
      </p:sp>
      <p:sp>
        <p:nvSpPr>
          <p:cNvPr id="12" name="Text 9"/>
          <p:cNvSpPr txBox="1"/>
          <p:nvPr/>
        </p:nvSpPr>
        <p:spPr>
          <a:xfrm>
            <a:off x="1348740" y="3749040"/>
            <a:ext cx="7223760" cy="320040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b="1" dirty="0">
                <a:solidFill>
                  <a:srgbClr val="1C2530"/>
                </a:solidFill>
                <a:latin typeface="Futura" pitchFamily="34" charset="0"/>
                <a:ea typeface="Futura" pitchFamily="34" charset="-122"/>
                <a:cs typeface="Futura" pitchFamily="34" charset="-120"/>
              </a:rPr>
              <a:t>Persona: </a:t>
            </a:r>
            <a:pPr indent="0" marL="0">
              <a:lnSpc>
                <a:spcPct val="120000"/>
              </a:lnSpc>
              <a:buNone/>
            </a:pPr>
            <a:r>
              <a:rPr lang="en-US" sz="2400" dirty="0">
                <a:solidFill>
                  <a:srgbClr val="1C2530"/>
                </a:solidFill>
                <a:latin typeface="Futura" pitchFamily="34" charset="0"/>
                <a:ea typeface="Futura" pitchFamily="34" charset="-122"/>
                <a:cs typeface="Futura" pitchFamily="34" charset="-120"/>
              </a:rPr>
              <a:t>who should it act as?</a:t>
            </a:r>
            <a:endParaRPr lang="en-US" sz="2400" dirty="0"/>
          </a:p>
          <a:p>
            <a:pPr marL="279400" indent="-279400">
              <a:lnSpc>
                <a:spcPct val="120000"/>
              </a:lnSpc>
              <a:spcAft>
                <a:spcPts val="1200"/>
              </a:spcAft>
              <a:buSzPct val="100000"/>
              <a:buChar char="•"/>
            </a:pPr>
            <a:r>
              <a:rPr lang="en-US" sz="2400" b="1" dirty="0">
                <a:solidFill>
                  <a:srgbClr val="1C2530"/>
                </a:solidFill>
                <a:latin typeface="Futura" pitchFamily="34" charset="0"/>
                <a:ea typeface="Futura" pitchFamily="34" charset="-122"/>
                <a:cs typeface="Futura" pitchFamily="34" charset="-120"/>
              </a:rPr>
              <a:t>Task: </a:t>
            </a:r>
            <a:pPr indent="0" marL="0">
              <a:lnSpc>
                <a:spcPct val="120000"/>
              </a:lnSpc>
              <a:buNone/>
            </a:pPr>
            <a:r>
              <a:rPr lang="en-US" sz="2400" dirty="0">
                <a:solidFill>
                  <a:srgbClr val="1C2530"/>
                </a:solidFill>
                <a:latin typeface="Futura" pitchFamily="34" charset="0"/>
                <a:ea typeface="Futura" pitchFamily="34" charset="-122"/>
                <a:cs typeface="Futura" pitchFamily="34" charset="-120"/>
              </a:rPr>
              <a:t>what do you want it to do?</a:t>
            </a:r>
            <a:endParaRPr lang="en-US" sz="2400" dirty="0"/>
          </a:p>
          <a:p>
            <a:pPr marL="279400" indent="-279400">
              <a:lnSpc>
                <a:spcPct val="120000"/>
              </a:lnSpc>
              <a:spcAft>
                <a:spcPts val="1200"/>
              </a:spcAft>
              <a:buSzPct val="100000"/>
              <a:buChar char="•"/>
            </a:pPr>
            <a:r>
              <a:rPr lang="en-US" sz="2400" b="1" dirty="0">
                <a:solidFill>
                  <a:srgbClr val="1C2530"/>
                </a:solidFill>
                <a:latin typeface="Futura" pitchFamily="34" charset="0"/>
                <a:ea typeface="Futura" pitchFamily="34" charset="-122"/>
                <a:cs typeface="Futura" pitchFamily="34" charset="-120"/>
              </a:rPr>
              <a:t>Context: </a:t>
            </a:r>
            <a:pPr indent="0" marL="0">
              <a:lnSpc>
                <a:spcPct val="120000"/>
              </a:lnSpc>
              <a:buNone/>
            </a:pPr>
            <a:r>
              <a:rPr lang="en-US" sz="2400" dirty="0">
                <a:solidFill>
                  <a:srgbClr val="1C2530"/>
                </a:solidFill>
                <a:latin typeface="Futura" pitchFamily="34" charset="0"/>
                <a:ea typeface="Futura" pitchFamily="34" charset="-122"/>
                <a:cs typeface="Futura" pitchFamily="34" charset="-120"/>
              </a:rPr>
              <a:t>what does it need to know?</a:t>
            </a:r>
            <a:endParaRPr lang="en-US" sz="2400" dirty="0"/>
          </a:p>
          <a:p>
            <a:pPr marL="279400" indent="-279400">
              <a:lnSpc>
                <a:spcPct val="120000"/>
              </a:lnSpc>
              <a:spcAft>
                <a:spcPts val="1200"/>
              </a:spcAft>
              <a:buSzPct val="100000"/>
              <a:buChar char="•"/>
            </a:pPr>
            <a:r>
              <a:rPr lang="en-US" sz="2400" b="1" dirty="0">
                <a:solidFill>
                  <a:srgbClr val="1C2530"/>
                </a:solidFill>
                <a:latin typeface="Futura" pitchFamily="34" charset="0"/>
                <a:ea typeface="Futura" pitchFamily="34" charset="-122"/>
                <a:cs typeface="Futura" pitchFamily="34" charset="-120"/>
              </a:rPr>
              <a:t>Format: </a:t>
            </a:r>
            <a:pPr indent="0" marL="0">
              <a:lnSpc>
                <a:spcPct val="120000"/>
              </a:lnSpc>
              <a:buNone/>
            </a:pPr>
            <a:r>
              <a:rPr lang="en-US" sz="2400" dirty="0">
                <a:solidFill>
                  <a:srgbClr val="1C2530"/>
                </a:solidFill>
                <a:latin typeface="Futura" pitchFamily="34" charset="0"/>
                <a:ea typeface="Futura" pitchFamily="34" charset="-122"/>
                <a:cs typeface="Futura" pitchFamily="34" charset="-120"/>
              </a:rPr>
              <a:t>what should the answer look like?</a:t>
            </a:r>
            <a:endParaRPr lang="en-US" sz="2400" dirty="0"/>
          </a:p>
        </p:txBody>
      </p:sp>
      <p:sp>
        <p:nvSpPr>
          <p:cNvPr id="13" name="Shape 10"/>
          <p:cNvSpPr/>
          <p:nvPr/>
        </p:nvSpPr>
        <p:spPr>
          <a:xfrm>
            <a:off x="9395460" y="2697480"/>
            <a:ext cx="7863840" cy="4480560"/>
          </a:xfrm>
          <a:prstGeom prst="rect">
            <a:avLst/>
          </a:prstGeom>
          <a:solidFill>
            <a:srgbClr val="FFFFFF"/>
          </a:solidFill>
          <a:ln w="9525">
            <a:solidFill>
              <a:srgbClr val="D0D3D4"/>
            </a:solidFill>
            <a:prstDash val="solid"/>
          </a:ln>
        </p:spPr>
        <p:txBody>
          <a:bodyPr/>
          <a:p/>
        </p:txBody>
      </p:sp>
      <p:sp>
        <p:nvSpPr>
          <p:cNvPr id="14" name="Shape 11"/>
          <p:cNvSpPr/>
          <p:nvPr/>
        </p:nvSpPr>
        <p:spPr>
          <a:xfrm>
            <a:off x="9395460" y="2697480"/>
            <a:ext cx="7863840" cy="777240"/>
          </a:xfrm>
          <a:prstGeom prst="rect">
            <a:avLst/>
          </a:prstGeom>
          <a:solidFill>
            <a:srgbClr val="971B2F"/>
          </a:solidFill>
          <a:ln/>
        </p:spPr>
        <p:txBody>
          <a:bodyPr/>
          <a:p/>
        </p:txBody>
      </p:sp>
      <p:sp>
        <p:nvSpPr>
          <p:cNvPr id="15" name="Text 12"/>
          <p:cNvSpPr txBox="1"/>
          <p:nvPr/>
        </p:nvSpPr>
        <p:spPr>
          <a:xfrm>
            <a:off x="9715500" y="269748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Try both</a:t>
            </a:r>
            <a:endParaRPr lang="en-US" sz="2900" dirty="0"/>
          </a:p>
        </p:txBody>
      </p:sp>
      <p:sp>
        <p:nvSpPr>
          <p:cNvPr id="16" name="Text 13"/>
          <p:cNvSpPr txBox="1"/>
          <p:nvPr/>
        </p:nvSpPr>
        <p:spPr>
          <a:xfrm>
            <a:off x="9715500" y="3749040"/>
            <a:ext cx="7223760" cy="320040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b="1" dirty="0">
                <a:solidFill>
                  <a:srgbClr val="1C2530"/>
                </a:solidFill>
                <a:latin typeface="Futura" pitchFamily="34" charset="0"/>
                <a:ea typeface="Futura" pitchFamily="34" charset="-122"/>
                <a:cs typeface="Futura" pitchFamily="34" charset="-120"/>
              </a:rPr>
              <a:t>Short: </a:t>
            </a:r>
            <a:pPr indent="0" marL="0">
              <a:lnSpc>
                <a:spcPct val="120000"/>
              </a:lnSpc>
              <a:buNone/>
            </a:pPr>
            <a:r>
              <a:rPr lang="en-US" sz="2400" dirty="0">
                <a:solidFill>
                  <a:srgbClr val="1C2530"/>
                </a:solidFill>
                <a:latin typeface="Futura" pitchFamily="34" charset="0"/>
                <a:ea typeface="Futura" pitchFamily="34" charset="-122"/>
                <a:cs typeface="Futura" pitchFamily="34" charset="-120"/>
              </a:rPr>
              <a:t>“Write an email about a meeting.”</a:t>
            </a:r>
            <a:endParaRPr lang="en-US" sz="2400" dirty="0"/>
          </a:p>
          <a:p>
            <a:pPr marL="279400" indent="-279400">
              <a:lnSpc>
                <a:spcPct val="120000"/>
              </a:lnSpc>
              <a:spcAft>
                <a:spcPts val="1200"/>
              </a:spcAft>
              <a:buSzPct val="100000"/>
              <a:buChar char="•"/>
            </a:pPr>
            <a:r>
              <a:rPr lang="en-US" sz="2400" b="1" dirty="0">
                <a:solidFill>
                  <a:srgbClr val="1C2530"/>
                </a:solidFill>
                <a:latin typeface="Futura" pitchFamily="34" charset="0"/>
                <a:ea typeface="Futura" pitchFamily="34" charset="-122"/>
                <a:cs typeface="Futura" pitchFamily="34" charset="-120"/>
              </a:rPr>
              <a:t>Full: </a:t>
            </a:r>
            <a:pPr indent="0" marL="0">
              <a:lnSpc>
                <a:spcPct val="120000"/>
              </a:lnSpc>
              <a:buNone/>
            </a:pPr>
            <a:r>
              <a:rPr lang="en-US" sz="2400" dirty="0">
                <a:solidFill>
                  <a:srgbClr val="1C2530"/>
                </a:solidFill>
                <a:latin typeface="Futura" pitchFamily="34" charset="0"/>
                <a:ea typeface="Futura" pitchFamily="34" charset="-122"/>
                <a:cs typeface="Futura" pitchFamily="34" charset="-120"/>
              </a:rPr>
              <a:t>“You are an experienced department administrator. Write an email announcing a staff meeting Tuesday at 10 in Room 204 about the new travel policy. Under 100 words, warm tone, date and time first.”</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WRAP-UP</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What to Take Away</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Text 6"/>
          <p:cNvSpPr txBox="1"/>
          <p:nvPr/>
        </p:nvSpPr>
        <p:spPr>
          <a:xfrm>
            <a:off x="1028700" y="2697480"/>
            <a:ext cx="14904720" cy="731520"/>
          </a:xfrm>
          <a:prstGeom prst="rect">
            <a:avLst/>
          </a:prstGeom>
          <a:noFill/>
          <a:ln/>
        </p:spPr>
        <p:txBody>
          <a:bodyPr wrap="square" lIns="0" tIns="0" rIns="0" bIns="0" rtlCol="0" anchor="t"/>
          <a:lstStyle/>
          <a:p>
            <a:pPr indent="0" marL="0">
              <a:buNone/>
            </a:pPr>
            <a:r>
              <a:rPr lang="en-US" sz="2900" dirty="0">
                <a:solidFill>
                  <a:srgbClr val="1C2530"/>
                </a:solidFill>
                <a:latin typeface="Futura" pitchFamily="34" charset="0"/>
                <a:ea typeface="Futura" pitchFamily="34" charset="-122"/>
                <a:cs typeface="Futura" pitchFamily="34" charset="-120"/>
              </a:rPr>
              <a:t>AI writes drafts. You check them and decide.</a:t>
            </a:r>
            <a:endParaRPr lang="en-US" sz="2900" dirty="0"/>
          </a:p>
        </p:txBody>
      </p:sp>
      <p:sp>
        <p:nvSpPr>
          <p:cNvPr id="10" name="Text 7"/>
          <p:cNvSpPr txBox="1"/>
          <p:nvPr/>
        </p:nvSpPr>
        <p:spPr>
          <a:xfrm>
            <a:off x="1028700" y="3749040"/>
            <a:ext cx="14904720" cy="320040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500" dirty="0">
                <a:solidFill>
                  <a:srgbClr val="1C2530"/>
                </a:solidFill>
                <a:latin typeface="Futura" pitchFamily="34" charset="0"/>
                <a:ea typeface="Futura" pitchFamily="34" charset="-122"/>
                <a:cs typeface="Futura" pitchFamily="34" charset="-120"/>
              </a:rPr>
              <a:t>For Drexel work, use ChatGPT Edu or Copilot and follow the data rule.</a:t>
            </a:r>
            <a:endParaRPr lang="en-US" sz="2500" dirty="0"/>
          </a:p>
          <a:p>
            <a:pPr marL="279400" indent="-279400">
              <a:lnSpc>
                <a:spcPct val="120000"/>
              </a:lnSpc>
              <a:spcAft>
                <a:spcPts val="1200"/>
              </a:spcAft>
              <a:buSzPct val="100000"/>
              <a:buChar char="•"/>
            </a:pPr>
            <a:r>
              <a:rPr lang="en-US" sz="2500" dirty="0">
                <a:solidFill>
                  <a:srgbClr val="1C2530"/>
                </a:solidFill>
                <a:latin typeface="Futura" pitchFamily="34" charset="0"/>
                <a:ea typeface="Futura" pitchFamily="34" charset="-122"/>
                <a:cs typeface="Futura" pitchFamily="34" charset="-120"/>
              </a:rPr>
              <a:t>Before you type, ask the four questions: Persona, Task, Context, Format.</a:t>
            </a:r>
            <a:endParaRPr lang="en-US" sz="2500" dirty="0"/>
          </a:p>
          <a:p>
            <a:pPr marL="279400" indent="-279400">
              <a:lnSpc>
                <a:spcPct val="120000"/>
              </a:lnSpc>
              <a:spcAft>
                <a:spcPts val="1200"/>
              </a:spcAft>
              <a:buSzPct val="100000"/>
              <a:buChar char="•"/>
            </a:pPr>
            <a:r>
              <a:rPr lang="en-US" sz="2500" dirty="0">
                <a:solidFill>
                  <a:srgbClr val="1C2530"/>
                </a:solidFill>
                <a:latin typeface="Futura" pitchFamily="34" charset="0"/>
                <a:ea typeface="Futura" pitchFamily="34" charset="-122"/>
                <a:cs typeface="Futura" pitchFamily="34" charset="-120"/>
              </a:rPr>
              <a:t>Before Core 2: do one weekly task (an email, a summary, notes) with ChatGPT Edu, and bring it.</a:t>
            </a:r>
            <a:endParaRPr lang="en-US" sz="2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07294D"/>
        </a:solidFill>
      </p:bgPr>
    </p:bg>
    <p:spTree>
      <p:nvGrpSpPr>
        <p:cNvPr id="1" name=""/>
        <p:cNvGrpSpPr/>
        <p:nvPr/>
      </p:nvGrpSpPr>
      <p:grpSpPr>
        <a:xfrm>
          <a:off x="0" y="0"/>
          <a:ext cx="0" cy="0"/>
          <a:chOff x="0" y="0"/>
          <a:chExt cx="0" cy="0"/>
        </a:xfrm>
      </p:grpSpPr>
      <p:sp>
        <p:nvSpPr>
          <p:cNvPr id="2" name="Shape 0"/>
          <p:cNvSpPr/>
          <p:nvPr/>
        </p:nvSpPr>
        <p:spPr>
          <a:xfrm>
            <a:off x="1028700" y="859536"/>
            <a:ext cx="4480560" cy="1005840"/>
          </a:xfrm>
          <a:prstGeom prst="roundRect">
            <a:avLst>
              <a:gd name="adj" fmla="val 10909"/>
            </a:avLst>
          </a:prstGeom>
          <a:solidFill>
            <a:srgbClr val="FFFFFF"/>
          </a:solidFill>
          <a:ln/>
        </p:spPr>
      </p:sp>
      <p:sp>
        <p:nvSpPr>
          <p:cNvPr id="3" name="Text 1"/>
          <p:cNvSpPr txBox="1"/>
          <p:nvPr/>
        </p:nvSpPr>
        <p:spPr>
          <a:xfrm>
            <a:off x="1339596" y="987552"/>
            <a:ext cx="4023360" cy="384048"/>
          </a:xfrm>
          <a:prstGeom prst="rect">
            <a:avLst/>
          </a:prstGeom>
          <a:noFill/>
          <a:ln/>
        </p:spPr>
        <p:txBody>
          <a:bodyPr wrap="square" lIns="0" tIns="0" rIns="0" bIns="0" rtlCol="0" anchor="t"/>
          <a:lstStyle/>
          <a:p>
            <a:pPr indent="0" marL="0">
              <a:buNone/>
            </a:pPr>
            <a:r>
              <a:rPr lang="en-US" sz="2400" b="1" dirty="0">
                <a:solidFill>
                  <a:srgbClr val="07294D"/>
                </a:solidFill>
                <a:latin typeface="Georgia" pitchFamily="34" charset="0"/>
                <a:ea typeface="Georgia" pitchFamily="34" charset="-122"/>
                <a:cs typeface="Georgia" pitchFamily="34" charset="-120"/>
              </a:rPr>
              <a:t>Drexel University</a:t>
            </a:r>
            <a:endParaRPr lang="en-US" sz="2400" dirty="0"/>
          </a:p>
        </p:txBody>
      </p:sp>
      <p:sp>
        <p:nvSpPr>
          <p:cNvPr id="4" name="Text 2"/>
          <p:cNvSpPr txBox="1"/>
          <p:nvPr/>
        </p:nvSpPr>
        <p:spPr>
          <a:xfrm>
            <a:off x="1339596" y="1417320"/>
            <a:ext cx="4023360" cy="310896"/>
          </a:xfrm>
          <a:prstGeom prst="rect">
            <a:avLst/>
          </a:prstGeom>
          <a:noFill/>
          <a:ln/>
        </p:spPr>
        <p:txBody>
          <a:bodyPr wrap="square" lIns="0" tIns="0" rIns="0" bIns="0" rtlCol="0" anchor="t"/>
          <a:lstStyle/>
          <a:p>
            <a:pPr indent="0" marL="0">
              <a:buNone/>
            </a:pPr>
            <a:r>
              <a:rPr lang="en-US" sz="1600" b="1" dirty="0">
                <a:solidFill>
                  <a:srgbClr val="006699"/>
                </a:solidFill>
                <a:latin typeface="Futura" pitchFamily="34" charset="0"/>
                <a:ea typeface="Futura" pitchFamily="34" charset="-122"/>
                <a:cs typeface="Futura" pitchFamily="34" charset="-120"/>
              </a:rPr>
              <a:t>Dornsife School of Public Health</a:t>
            </a:r>
            <a:endParaRPr lang="en-US" sz="1600" dirty="0"/>
          </a:p>
        </p:txBody>
      </p:sp>
      <p:sp>
        <p:nvSpPr>
          <p:cNvPr id="5" name="Text 3"/>
          <p:cNvSpPr txBox="1"/>
          <p:nvPr/>
        </p:nvSpPr>
        <p:spPr>
          <a:xfrm>
            <a:off x="1028700" y="40690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THANK YOU</a:t>
            </a:r>
            <a:endParaRPr lang="en-US" sz="1800" dirty="0"/>
          </a:p>
        </p:txBody>
      </p:sp>
      <p:sp>
        <p:nvSpPr>
          <p:cNvPr id="6" name="Text 4"/>
          <p:cNvSpPr txBox="1"/>
          <p:nvPr/>
        </p:nvSpPr>
        <p:spPr>
          <a:xfrm>
            <a:off x="1028700" y="4434840"/>
            <a:ext cx="16230600" cy="1371600"/>
          </a:xfrm>
          <a:prstGeom prst="rect">
            <a:avLst/>
          </a:prstGeom>
          <a:noFill/>
          <a:ln/>
        </p:spPr>
        <p:txBody>
          <a:bodyPr wrap="square" lIns="0" tIns="0" rIns="0" bIns="0" rtlCol="0" anchor="ctr"/>
          <a:lstStyle/>
          <a:p>
            <a:pPr indent="0" marL="0">
              <a:buNone/>
            </a:pPr>
            <a:r>
              <a:rPr lang="en-US" sz="8900" b="1" dirty="0">
                <a:solidFill>
                  <a:srgbClr val="FFFFFF"/>
                </a:solidFill>
                <a:latin typeface="Georgia" pitchFamily="34" charset="0"/>
                <a:ea typeface="Georgia" pitchFamily="34" charset="-122"/>
                <a:cs typeface="Georgia" pitchFamily="34" charset="-120"/>
              </a:rPr>
              <a:t>Questions &amp; Discussion</a:t>
            </a:r>
            <a:endParaRPr lang="en-US" sz="8900" dirty="0"/>
          </a:p>
        </p:txBody>
      </p:sp>
      <p:sp>
        <p:nvSpPr>
          <p:cNvPr id="7" name="Shape 5"/>
          <p:cNvSpPr/>
          <p:nvPr/>
        </p:nvSpPr>
        <p:spPr>
          <a:xfrm>
            <a:off x="1028700" y="6035040"/>
            <a:ext cx="777240" cy="73152"/>
          </a:xfrm>
          <a:prstGeom prst="rect">
            <a:avLst/>
          </a:prstGeom>
          <a:solidFill>
            <a:srgbClr val="FFC600"/>
          </a:solidFill>
          <a:ln/>
        </p:spPr>
      </p:sp>
      <p:sp>
        <p:nvSpPr>
          <p:cNvPr id="8" name="Text 6"/>
          <p:cNvSpPr txBox="1"/>
          <p:nvPr/>
        </p:nvSpPr>
        <p:spPr>
          <a:xfrm>
            <a:off x="1028700" y="6400800"/>
            <a:ext cx="14173200" cy="914400"/>
          </a:xfrm>
          <a:prstGeom prst="rect">
            <a:avLst/>
          </a:prstGeom>
          <a:noFill/>
          <a:ln/>
        </p:spPr>
        <p:txBody>
          <a:bodyPr wrap="square" lIns="0" tIns="0" rIns="0" bIns="0" rtlCol="0" anchor="t"/>
          <a:lstStyle/>
          <a:p>
            <a:pPr indent="0" marL="0">
              <a:buNone/>
            </a:pPr>
            <a:r>
              <a:rPr lang="en-US" sz="2600" dirty="0">
                <a:solidFill>
                  <a:srgbClr val="C7D2DF"/>
                </a:solidFill>
                <a:latin typeface="Futura" pitchFamily="34" charset="0"/>
                <a:ea typeface="Futura" pitchFamily="34" charset="-122"/>
                <a:cs typeface="Futura" pitchFamily="34" charset="-120"/>
              </a:rPr>
              <a:t>Next: Core 2 — Workflow Enhancement. Start from your own plan, then let AI draft or refine.</a:t>
            </a:r>
            <a:endParaRPr lang="en-US" sz="2600" dirty="0"/>
          </a:p>
        </p:txBody>
      </p:sp>
      <p:sp>
        <p:nvSpPr>
          <p:cNvPr id="9" name="Text 7"/>
          <p:cNvSpPr txBox="1"/>
          <p:nvPr/>
        </p:nvSpPr>
        <p:spPr>
          <a:xfrm>
            <a:off x="1028700" y="8686800"/>
            <a:ext cx="9144000" cy="365760"/>
          </a:xfrm>
          <a:prstGeom prst="rect">
            <a:avLst/>
          </a:prstGeom>
          <a:noFill/>
          <a:ln/>
        </p:spPr>
        <p:txBody>
          <a:bodyPr wrap="square" lIns="0" tIns="0" rIns="0" bIns="0" rtlCol="0" anchor="t"/>
          <a:lstStyle/>
          <a:p>
            <a:pPr indent="0" marL="0">
              <a:buNone/>
            </a:pPr>
            <a:r>
              <a:rPr lang="en-US" sz="2300" b="1" dirty="0">
                <a:solidFill>
                  <a:srgbClr val="FFFFFF"/>
                </a:solidFill>
                <a:latin typeface="Futura" pitchFamily="34" charset="0"/>
                <a:ea typeface="Futura" pitchFamily="34" charset="-122"/>
                <a:cs typeface="Futura" pitchFamily="34" charset="-120"/>
              </a:rPr>
              <a:t>Alex Quistberg, PhD, MPH</a:t>
            </a:r>
            <a:endParaRPr lang="en-US" sz="2300" dirty="0"/>
          </a:p>
        </p:txBody>
      </p:sp>
      <p:sp>
        <p:nvSpPr>
          <p:cNvPr id="10" name="Text 8"/>
          <p:cNvSpPr txBox="1"/>
          <p:nvPr/>
        </p:nvSpPr>
        <p:spPr>
          <a:xfrm>
            <a:off x="1028700" y="9070848"/>
            <a:ext cx="10058400" cy="320040"/>
          </a:xfrm>
          <a:prstGeom prst="rect">
            <a:avLst/>
          </a:prstGeom>
          <a:noFill/>
          <a:ln/>
        </p:spPr>
        <p:txBody>
          <a:bodyPr wrap="square" lIns="0" tIns="0" rIns="0" bIns="0" rtlCol="0" anchor="t"/>
          <a:lstStyle/>
          <a:p>
            <a:pPr indent="0" marL="0">
              <a:buNone/>
            </a:pPr>
            <a:r>
              <a:rPr lang="en-US" sz="1900" dirty="0">
                <a:solidFill>
                  <a:srgbClr val="9FB3CC"/>
                </a:solidFill>
                <a:latin typeface="Futura" pitchFamily="34" charset="0"/>
                <a:ea typeface="Futura" pitchFamily="34" charset="-122"/>
                <a:cs typeface="Futura" pitchFamily="34" charset="-120"/>
              </a:rPr>
              <a:t>daq26@drexel.edu</a:t>
            </a:r>
            <a:endParaRPr lang="en-US" sz="1900" dirty="0"/>
          </a:p>
        </p:txBody>
      </p:sp>
      <p:sp>
        <p:nvSpPr>
          <p:cNvPr id="11" name="Text 9"/>
          <p:cNvSpPr txBox="1"/>
          <p:nvPr/>
        </p:nvSpPr>
        <p:spPr>
          <a:xfrm>
            <a:off x="9509760" y="9070848"/>
            <a:ext cx="7772400" cy="320040"/>
          </a:xfrm>
          <a:prstGeom prst="rect">
            <a:avLst/>
          </a:prstGeom>
          <a:noFill/>
          <a:ln/>
        </p:spPr>
        <p:txBody>
          <a:bodyPr wrap="square" lIns="0" tIns="0" rIns="0" bIns="0" rtlCol="0" anchor="t"/>
          <a:lstStyle/>
          <a:p>
            <a:pPr algn="r" indent="0" marL="0">
              <a:buNone/>
            </a:pPr>
            <a:r>
              <a:rPr lang="en-US" sz="1900" dirty="0">
                <a:solidFill>
                  <a:srgbClr val="9FB3CC"/>
                </a:solidFill>
                <a:latin typeface="Futura" pitchFamily="34" charset="0"/>
                <a:ea typeface="Futura" pitchFamily="34" charset="-122"/>
                <a:cs typeface="Futura" pitchFamily="34" charset="-120"/>
              </a:rPr>
              <a:t>Department of Environmental &amp; Occupational Health</a:t>
            </a:r>
            <a:endParaRPr lang="en-US" sz="19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i12.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1 — Foundations &amp; Capabilities</dc:title>
  <dc:subject>PptxGenJS Presentation</dc:subject>
  <dc:creator>Alex Quistberg</dc:creator>
  <cp:lastModifiedBy>Alex Quistberg</cp:lastModifiedBy>
  <cp:revision>1</cp:revision>
  <dcterms:created xsi:type="dcterms:W3CDTF">2026-09-29T15:37:52Z</dcterms:created>
  <dcterms:modified xsi:type="dcterms:W3CDTF">2026-09-29T15:37:52Z</dcterms:modified>
</cp:coreProperties>
</file>