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Zoom. Paste the Core 2 page link, the demo-file links, and m365.cloud.microsoft/chat in the chat now. Two ideas run through the hour: plan first, then decide whether AI drafts or refines.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goals. The real ones: a plan before any AI, and knowing when to let AI draft versus refine.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one line in the Zoom chat. Read two or three aloud. Then cover the right box: Zoom and browser side by side, thumbs-up reaction when done, questions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AI, write a few bullets: the point, who it is for, the key facts. Two minutes. AI then drafts from your plan or refines what you wrote, and you check the result against your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center of the session. AI drafts from your outline: routine, low stakes, you know the content. You write, AI refines: your expertise, judgment, or voice is the point, or the stakes are high. Leave AI out: sensitive information and the decision itself. Ask in the chat for one task per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prompt asks for a list, not a rewrite. You stay the author; AI is the second reader. Inconsistencies are the sleeper hit: dates that do not match, a name spelled two ways, a number that changes between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 Both take pasted text or an uploaded file. If asked about Copilot inside Word or Excel: Drexel does not have that license, and you do not need it. In Outlook, the Summarize button works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rule as Core 1. Drexel lists Copilot Chat (signed in) as approved for High Risk Data, but for this session keep the simple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Trace one draft through the three diamonds. Verified: check it against your plan and the original. Disclosed: official, research, or external work. Yours: does it say what you mean? Any "no" sends it back. Core 4 covers this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Applies to numbers as much as citations. If you cannot trace it to a source you opened, it does not go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each step on your shared screen and pause. Ask for a thumbs-up reaction after the upload step. Summarizing is a safe first job: the content already exists, so every bullet can be checked. No shield icon: personal Microsoft account. Upload fails: paste the text. Cannot find the file: repost the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people to type A, B, or C in the chat. Leave the slide for the most common choice on screen; switch if the chat asks.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what is missing: the description has aims, methods, products, and partners, but no timeline, budget, sample size, team roles, or plan for privacy in street imagery. Ask people to post one gap in the chat and whether it is real. AI lists gaps; the author decides what to add.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person supplies the two points; AI only turns them into sentences. Did the reply add anything they did not say? The accreditation crosswalk was put on the September agenda with no owner: decision, action item, or open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of 60 rows are over $12 per attendee: Oct EOH, HMP, and Autism Institute; all of Dec except Epi &amp; Biostat; Jan HMP, CHP, and Autism Institute; all six in June. Nov HMP is exactly $12.00 ($300 ÷ 25): a formula with &gt; will not flag it, &gt;= will. Check the formula, not just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people to step 1: a plan before AI. Ask them to type "plan done" in the chat before opening AI. Routine task: recipe 1. Expertise or high stakes: write it, then recipe 2. Everyone saves at least one recipe before leaving.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for one line in the chat: one thing they will try this week. Paste the feedback form link (bottom of the Core 2 page)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294D"/>
        </a:solidFill>
      </p:bgPr>
    </p:bg>
    <p:spTree>
      <p:nvGrpSpPr>
        <p:cNvPr id="1" name=""/>
        <p:cNvGrpSpPr/>
        <p:nvPr/>
      </p:nvGrpSpPr>
      <p:grpSpPr>
        <a:xfrm>
          <a:off x="0" y="0"/>
          <a:ext cx="0" cy="0"/>
          <a:chOff x="0" y="0"/>
          <a:chExt cx="0" cy="0"/>
        </a:xfrm>
      </p:grpSpPr>
      <p:sp>
        <p:nvSpPr>
          <p:cNvPr id="2" name="Shape 0"/>
          <p:cNvSpPr/>
          <p:nvPr/>
        </p:nvSpPr>
        <p:spPr>
          <a:xfrm>
            <a:off x="1028700" y="859536"/>
            <a:ext cx="4480560" cy="1005840"/>
          </a:xfrm>
          <a:prstGeom prst="roundRect">
            <a:avLst>
              <a:gd name="adj" fmla="val 10909"/>
            </a:avLst>
          </a:prstGeom>
          <a:solidFill>
            <a:srgbClr val="FFFFFF"/>
          </a:solidFill>
          <a:ln/>
        </p:spPr>
      </p:sp>
      <p:sp>
        <p:nvSpPr>
          <p:cNvPr id="3" name="Text 1"/>
          <p:cNvSpPr txBox="1"/>
          <p:nvPr/>
        </p:nvSpPr>
        <p:spPr>
          <a:xfrm>
            <a:off x="1339596" y="987552"/>
            <a:ext cx="4023360" cy="384048"/>
          </a:xfrm>
          <a:prstGeom prst="rect">
            <a:avLst/>
          </a:prstGeom>
          <a:noFill/>
          <a:ln/>
        </p:spPr>
        <p:txBody>
          <a:bodyPr wrap="square" lIns="0" tIns="0" rIns="0" bIns="0" rtlCol="0" anchor="t"/>
          <a:lstStyle/>
          <a:p>
            <a:pPr indent="0" marL="0">
              <a:buNone/>
            </a:pPr>
            <a:r>
              <a:rPr lang="en-US" sz="2400" b="1" dirty="0">
                <a:solidFill>
                  <a:srgbClr val="07294D"/>
                </a:solidFill>
                <a:latin typeface="Georgia" pitchFamily="34" charset="0"/>
                <a:ea typeface="Georgia" pitchFamily="34" charset="-122"/>
                <a:cs typeface="Georgia" pitchFamily="34" charset="-120"/>
              </a:rPr>
              <a:t>Drexel University</a:t>
            </a:r>
            <a:endParaRPr lang="en-US" sz="2400" dirty="0"/>
          </a:p>
        </p:txBody>
      </p:sp>
      <p:sp>
        <p:nvSpPr>
          <p:cNvPr id="4" name="Text 2"/>
          <p:cNvSpPr txBox="1"/>
          <p:nvPr/>
        </p:nvSpPr>
        <p:spPr>
          <a:xfrm>
            <a:off x="1339596" y="1417320"/>
            <a:ext cx="4023360" cy="310896"/>
          </a:xfrm>
          <a:prstGeom prst="rect">
            <a:avLst/>
          </a:prstGeom>
          <a:noFill/>
          <a:ln/>
        </p:spPr>
        <p:txBody>
          <a:bodyPr wrap="square" lIns="0" tIns="0" rIns="0" bIns="0" rtlCol="0" anchor="t"/>
          <a:lstStyle/>
          <a:p>
            <a:pPr indent="0" marL="0">
              <a:buNone/>
            </a:pPr>
            <a:r>
              <a:rPr lang="en-US" sz="1600" b="1" dirty="0">
                <a:solidFill>
                  <a:srgbClr val="006699"/>
                </a:solidFill>
                <a:latin typeface="Futura" pitchFamily="34" charset="0"/>
                <a:ea typeface="Futura" pitchFamily="34" charset="-122"/>
                <a:cs typeface="Futura" pitchFamily="34" charset="-120"/>
              </a:rPr>
              <a:t>Dornsife School of Public Health</a:t>
            </a:r>
            <a:endParaRPr lang="en-US" sz="1600" dirty="0"/>
          </a:p>
        </p:txBody>
      </p:sp>
      <p:sp>
        <p:nvSpPr>
          <p:cNvPr id="5" name="Text 3"/>
          <p:cNvSpPr txBox="1"/>
          <p:nvPr/>
        </p:nvSpPr>
        <p:spPr>
          <a:xfrm>
            <a:off x="13624560" y="914400"/>
            <a:ext cx="3657600" cy="731520"/>
          </a:xfrm>
          <a:prstGeom prst="rect">
            <a:avLst/>
          </a:prstGeom>
          <a:noFill/>
          <a:ln/>
        </p:spPr>
        <p:txBody>
          <a:bodyPr wrap="square" lIns="0" tIns="0" rIns="0" bIns="0" rtlCol="0" anchor="t"/>
          <a:lstStyle/>
          <a:p>
            <a:pPr algn="r" indent="0" marL="0">
              <a:buNone/>
            </a:pPr>
            <a:r>
              <a:rPr lang="en-US" sz="1800" dirty="0">
                <a:solidFill>
                  <a:srgbClr val="9FB3CC"/>
                </a:solidFill>
                <a:latin typeface="Futura" pitchFamily="34" charset="0"/>
                <a:ea typeface="Futura" pitchFamily="34" charset="-122"/>
                <a:cs typeface="Futura" pitchFamily="34" charset="-120"/>
              </a:rPr>
              <a:t>Department of Environmental</a:t>
            </a:r>
            <a:endParaRPr lang="en-US" sz="1800" dirty="0"/>
          </a:p>
          <a:p>
            <a:pPr algn="r" indent="0" marL="0">
              <a:buNone/>
            </a:pPr>
            <a:r>
              <a:rPr lang="en-US" sz="1800" dirty="0">
                <a:solidFill>
                  <a:srgbClr val="9FB3CC"/>
                </a:solidFill>
                <a:latin typeface="Futura" pitchFamily="34" charset="0"/>
                <a:ea typeface="Futura" pitchFamily="34" charset="-122"/>
                <a:cs typeface="Futura" pitchFamily="34" charset="-120"/>
              </a:rPr>
              <a:t>&amp; Occupational Health</a:t>
            </a:r>
            <a:endParaRPr lang="en-US" sz="1800" dirty="0"/>
          </a:p>
        </p:txBody>
      </p:sp>
      <p:sp>
        <p:nvSpPr>
          <p:cNvPr id="6" name="Text 4"/>
          <p:cNvSpPr txBox="1"/>
          <p:nvPr/>
        </p:nvSpPr>
        <p:spPr>
          <a:xfrm>
            <a:off x="1028700" y="40690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AI WORKSHOPS FOR DSPH</a:t>
            </a:r>
            <a:endParaRPr lang="en-US" sz="1800" dirty="0"/>
          </a:p>
        </p:txBody>
      </p:sp>
      <p:sp>
        <p:nvSpPr>
          <p:cNvPr id="7" name="Text 5"/>
          <p:cNvSpPr txBox="1"/>
          <p:nvPr/>
        </p:nvSpPr>
        <p:spPr>
          <a:xfrm>
            <a:off x="1028700" y="4434840"/>
            <a:ext cx="16230600" cy="1371600"/>
          </a:xfrm>
          <a:prstGeom prst="rect">
            <a:avLst/>
          </a:prstGeom>
          <a:noFill/>
          <a:ln/>
        </p:spPr>
        <p:txBody>
          <a:bodyPr wrap="square" lIns="0" tIns="0" rIns="0" bIns="0" rtlCol="0" anchor="ctr"/>
          <a:lstStyle/>
          <a:p>
            <a:pPr indent="0" marL="0">
              <a:buNone/>
            </a:pPr>
            <a:r>
              <a:rPr lang="en-US" sz="8900" b="1" dirty="0">
                <a:solidFill>
                  <a:srgbClr val="FFFFFF"/>
                </a:solidFill>
                <a:latin typeface="Georgia" pitchFamily="34" charset="0"/>
                <a:ea typeface="Georgia" pitchFamily="34" charset="-122"/>
                <a:cs typeface="Georgia" pitchFamily="34" charset="-120"/>
              </a:rPr>
              <a:t>Workflow Enhancement</a:t>
            </a:r>
            <a:endParaRPr lang="en-US" sz="8900" dirty="0"/>
          </a:p>
        </p:txBody>
      </p:sp>
      <p:sp>
        <p:nvSpPr>
          <p:cNvPr id="8" name="Shape 6"/>
          <p:cNvSpPr/>
          <p:nvPr/>
        </p:nvSpPr>
        <p:spPr>
          <a:xfrm>
            <a:off x="1028700" y="6035040"/>
            <a:ext cx="777240" cy="73152"/>
          </a:xfrm>
          <a:prstGeom prst="rect">
            <a:avLst/>
          </a:prstGeom>
          <a:solidFill>
            <a:srgbClr val="FFC600"/>
          </a:solidFill>
          <a:ln/>
        </p:spPr>
      </p:sp>
      <p:sp>
        <p:nvSpPr>
          <p:cNvPr id="9" name="Text 7"/>
          <p:cNvSpPr txBox="1"/>
          <p:nvPr/>
        </p:nvSpPr>
        <p:spPr>
          <a:xfrm>
            <a:off x="1028700" y="6400800"/>
            <a:ext cx="14173200" cy="914400"/>
          </a:xfrm>
          <a:prstGeom prst="rect">
            <a:avLst/>
          </a:prstGeom>
          <a:noFill/>
          <a:ln/>
        </p:spPr>
        <p:txBody>
          <a:bodyPr wrap="square" lIns="0" tIns="0" rIns="0" bIns="0" rtlCol="0" anchor="t"/>
          <a:lstStyle/>
          <a:p>
            <a:pPr indent="0" marL="0">
              <a:buNone/>
            </a:pPr>
            <a:r>
              <a:rPr lang="en-US" sz="2600" dirty="0">
                <a:solidFill>
                  <a:srgbClr val="C7D2DF"/>
                </a:solidFill>
                <a:latin typeface="Futura" pitchFamily="34" charset="0"/>
                <a:ea typeface="Futura" pitchFamily="34" charset="-122"/>
                <a:cs typeface="Futura" pitchFamily="34" charset="-120"/>
              </a:rPr>
              <a:t>Start from your own plan, then let ChatGPT Edu or Copilot Chat draft or refine</a:t>
            </a:r>
            <a:endParaRPr lang="en-US" sz="2600" dirty="0"/>
          </a:p>
        </p:txBody>
      </p:sp>
      <p:sp>
        <p:nvSpPr>
          <p:cNvPr id="10" name="Text 8"/>
          <p:cNvSpPr txBox="1"/>
          <p:nvPr/>
        </p:nvSpPr>
        <p:spPr>
          <a:xfrm>
            <a:off x="1028700" y="8686800"/>
            <a:ext cx="9144000" cy="365760"/>
          </a:xfrm>
          <a:prstGeom prst="rect">
            <a:avLst/>
          </a:prstGeom>
          <a:noFill/>
          <a:ln/>
        </p:spPr>
        <p:txBody>
          <a:bodyPr wrap="square" lIns="0" tIns="0" rIns="0" bIns="0" rtlCol="0" anchor="t"/>
          <a:lstStyle/>
          <a:p>
            <a:pPr indent="0" marL="0">
              <a:buNone/>
            </a:pPr>
            <a:r>
              <a:rPr lang="en-US" sz="2300" b="1" dirty="0">
                <a:solidFill>
                  <a:srgbClr val="FFFFFF"/>
                </a:solidFill>
                <a:latin typeface="Futura" pitchFamily="34" charset="0"/>
                <a:ea typeface="Futura" pitchFamily="34" charset="-122"/>
                <a:cs typeface="Futura" pitchFamily="34" charset="-120"/>
              </a:rPr>
              <a:t>Alex Quistberg, PhD, MPH</a:t>
            </a:r>
            <a:endParaRPr lang="en-US" sz="2300" dirty="0"/>
          </a:p>
        </p:txBody>
      </p:sp>
      <p:sp>
        <p:nvSpPr>
          <p:cNvPr id="11" name="Text 9"/>
          <p:cNvSpPr txBox="1"/>
          <p:nvPr/>
        </p:nvSpPr>
        <p:spPr>
          <a:xfrm>
            <a:off x="1028700" y="9070848"/>
            <a:ext cx="10058400" cy="320040"/>
          </a:xfrm>
          <a:prstGeom prst="rect">
            <a:avLst/>
          </a:prstGeom>
          <a:noFill/>
          <a:ln/>
        </p:spPr>
        <p:txBody>
          <a:bodyPr wrap="square" lIns="0" tIns="0" rIns="0" bIns="0" rtlCol="0" anchor="t"/>
          <a:lstStyle/>
          <a:p>
            <a:pPr indent="0" marL="0">
              <a:buNone/>
            </a:pPr>
            <a:r>
              <a:rPr lang="en-US" sz="1900" dirty="0">
                <a:solidFill>
                  <a:srgbClr val="9FB3CC"/>
                </a:solidFill>
                <a:latin typeface="Futura" pitchFamily="34" charset="0"/>
                <a:ea typeface="Futura" pitchFamily="34" charset="-122"/>
                <a:cs typeface="Futura" pitchFamily="34" charset="-120"/>
              </a:rPr>
              <a:t>Associate Research Professor · Department of Environmental &amp; Occupational Health</a:t>
            </a:r>
            <a:endParaRPr lang="en-US" sz="1900" dirty="0"/>
          </a:p>
        </p:txBody>
      </p:sp>
      <p:sp>
        <p:nvSpPr>
          <p:cNvPr id="12" name="Text 10"/>
          <p:cNvSpPr txBox="1"/>
          <p:nvPr/>
        </p:nvSpPr>
        <p:spPr>
          <a:xfrm>
            <a:off x="9509760" y="9070848"/>
            <a:ext cx="7772400" cy="320040"/>
          </a:xfrm>
          <a:prstGeom prst="rect">
            <a:avLst/>
          </a:prstGeom>
          <a:noFill/>
          <a:ln/>
        </p:spPr>
        <p:txBody>
          <a:bodyPr wrap="square" lIns="0" tIns="0" rIns="0" bIns="0" rtlCol="0" anchor="t"/>
          <a:lstStyle/>
          <a:p>
            <a:pPr algn="r" indent="0" marL="0">
              <a:buNone/>
            </a:pPr>
            <a:r>
              <a:rPr lang="en-US" sz="1900" dirty="0">
                <a:solidFill>
                  <a:srgbClr val="9FB3CC"/>
                </a:solidFill>
                <a:latin typeface="Futura" pitchFamily="34" charset="0"/>
                <a:ea typeface="Futura" pitchFamily="34" charset="-122"/>
                <a:cs typeface="Futura" pitchFamily="34" charset="-120"/>
              </a:rPr>
              <a:t>Core 2 · Fall 2026 · on Zoom</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WHAT YOU'LL LEAVE WITH</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Today's Goals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3017520"/>
            <a:ext cx="502920" cy="502920"/>
          </a:xfrm>
          <a:prstGeom prst="ellipse">
            <a:avLst/>
          </a:prstGeom>
          <a:solidFill>
            <a:srgbClr val="FFC600"/>
          </a:solidFill>
          <a:ln/>
        </p:spPr>
      </p:sp>
      <p:sp>
        <p:nvSpPr>
          <p:cNvPr id="10" name="Text 7"/>
          <p:cNvSpPr txBox="1"/>
          <p:nvPr/>
        </p:nvSpPr>
        <p:spPr>
          <a:xfrm>
            <a:off x="1028700" y="301752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1</a:t>
            </a:r>
            <a:endParaRPr lang="en-US" sz="2200" dirty="0"/>
          </a:p>
        </p:txBody>
      </p:sp>
      <p:sp>
        <p:nvSpPr>
          <p:cNvPr id="11" name="Text 8"/>
          <p:cNvSpPr txBox="1"/>
          <p:nvPr/>
        </p:nvSpPr>
        <p:spPr>
          <a:xfrm>
            <a:off x="1805940" y="301752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Pick a weekly task where AI can save you time.</a:t>
            </a:r>
            <a:endParaRPr lang="en-US" sz="2500" dirty="0"/>
          </a:p>
        </p:txBody>
      </p:sp>
      <p:sp>
        <p:nvSpPr>
          <p:cNvPr id="12" name="Shape 9"/>
          <p:cNvSpPr/>
          <p:nvPr/>
        </p:nvSpPr>
        <p:spPr>
          <a:xfrm>
            <a:off x="1028700" y="3886200"/>
            <a:ext cx="502920" cy="502920"/>
          </a:xfrm>
          <a:prstGeom prst="ellipse">
            <a:avLst/>
          </a:prstGeom>
          <a:solidFill>
            <a:srgbClr val="FFC600"/>
          </a:solidFill>
          <a:ln/>
        </p:spPr>
      </p:sp>
      <p:sp>
        <p:nvSpPr>
          <p:cNvPr id="13" name="Text 10"/>
          <p:cNvSpPr txBox="1"/>
          <p:nvPr/>
        </p:nvSpPr>
        <p:spPr>
          <a:xfrm>
            <a:off x="1028700" y="388620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2</a:t>
            </a:r>
            <a:endParaRPr lang="en-US" sz="2200" dirty="0"/>
          </a:p>
        </p:txBody>
      </p:sp>
      <p:sp>
        <p:nvSpPr>
          <p:cNvPr id="14" name="Text 11"/>
          <p:cNvSpPr txBox="1"/>
          <p:nvPr/>
        </p:nvSpPr>
        <p:spPr>
          <a:xfrm>
            <a:off x="1805940" y="388620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Start from your own plan, then decide: should AI draft it, or refine what you wrote?</a:t>
            </a:r>
            <a:endParaRPr lang="en-US" sz="2500" dirty="0"/>
          </a:p>
        </p:txBody>
      </p:sp>
      <p:sp>
        <p:nvSpPr>
          <p:cNvPr id="15" name="Shape 12"/>
          <p:cNvSpPr/>
          <p:nvPr/>
        </p:nvSpPr>
        <p:spPr>
          <a:xfrm>
            <a:off x="1028700" y="4754880"/>
            <a:ext cx="502920" cy="502920"/>
          </a:xfrm>
          <a:prstGeom prst="ellipse">
            <a:avLst/>
          </a:prstGeom>
          <a:solidFill>
            <a:srgbClr val="FFC600"/>
          </a:solidFill>
          <a:ln/>
        </p:spPr>
      </p:sp>
      <p:sp>
        <p:nvSpPr>
          <p:cNvPr id="16" name="Text 13"/>
          <p:cNvSpPr txBox="1"/>
          <p:nvPr/>
        </p:nvSpPr>
        <p:spPr>
          <a:xfrm>
            <a:off x="1028700" y="47548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3</a:t>
            </a:r>
            <a:endParaRPr lang="en-US" sz="2200" dirty="0"/>
          </a:p>
        </p:txBody>
      </p:sp>
      <p:sp>
        <p:nvSpPr>
          <p:cNvPr id="17" name="Text 14"/>
          <p:cNvSpPr txBox="1"/>
          <p:nvPr/>
        </p:nvSpPr>
        <p:spPr>
          <a:xfrm>
            <a:off x="1805940" y="475488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Get a document, email, or spreadsheet into Copilot Chat or ChatGPT Edu.</a:t>
            </a:r>
            <a:endParaRPr lang="en-US" sz="2500" dirty="0"/>
          </a:p>
        </p:txBody>
      </p:sp>
      <p:sp>
        <p:nvSpPr>
          <p:cNvPr id="18" name="Shape 15"/>
          <p:cNvSpPr/>
          <p:nvPr/>
        </p:nvSpPr>
        <p:spPr>
          <a:xfrm>
            <a:off x="1028700" y="5623560"/>
            <a:ext cx="502920" cy="502920"/>
          </a:xfrm>
          <a:prstGeom prst="ellipse">
            <a:avLst/>
          </a:prstGeom>
          <a:solidFill>
            <a:srgbClr val="FFC600"/>
          </a:solidFill>
          <a:ln/>
        </p:spPr>
      </p:sp>
      <p:sp>
        <p:nvSpPr>
          <p:cNvPr id="19" name="Text 16"/>
          <p:cNvSpPr txBox="1"/>
          <p:nvPr/>
        </p:nvSpPr>
        <p:spPr>
          <a:xfrm>
            <a:off x="1028700" y="56235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4</a:t>
            </a:r>
            <a:endParaRPr lang="en-US" sz="2200" dirty="0"/>
          </a:p>
        </p:txBody>
      </p:sp>
      <p:sp>
        <p:nvSpPr>
          <p:cNvPr id="20" name="Text 17"/>
          <p:cNvSpPr txBox="1"/>
          <p:nvPr/>
        </p:nvSpPr>
        <p:spPr>
          <a:xfrm>
            <a:off x="1805940" y="562356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Use AI as an editor: tighten language, catch inconsistencies, find what's missing.</a:t>
            </a:r>
            <a:endParaRPr lang="en-US" sz="2500" dirty="0"/>
          </a:p>
        </p:txBody>
      </p:sp>
      <p:sp>
        <p:nvSpPr>
          <p:cNvPr id="21" name="Shape 18"/>
          <p:cNvSpPr/>
          <p:nvPr/>
        </p:nvSpPr>
        <p:spPr>
          <a:xfrm>
            <a:off x="1028700" y="6492240"/>
            <a:ext cx="502920" cy="502920"/>
          </a:xfrm>
          <a:prstGeom prst="ellipse">
            <a:avLst/>
          </a:prstGeom>
          <a:solidFill>
            <a:srgbClr val="FFC600"/>
          </a:solidFill>
          <a:ln/>
        </p:spPr>
      </p:sp>
      <p:sp>
        <p:nvSpPr>
          <p:cNvPr id="22" name="Text 19"/>
          <p:cNvSpPr txBox="1"/>
          <p:nvPr/>
        </p:nvSpPr>
        <p:spPr>
          <a:xfrm>
            <a:off x="1028700" y="649224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5</a:t>
            </a:r>
            <a:endParaRPr lang="en-US" sz="2200" dirty="0"/>
          </a:p>
        </p:txBody>
      </p:sp>
      <p:sp>
        <p:nvSpPr>
          <p:cNvPr id="23" name="Text 20"/>
          <p:cNvSpPr txBox="1"/>
          <p:nvPr/>
        </p:nvSpPr>
        <p:spPr>
          <a:xfrm>
            <a:off x="1805940" y="649224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Check the answer before you use it, and save one prompt you can reuse.</a:t>
            </a:r>
            <a:endParaRPr lang="en-US" sz="2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WELCOME BACK</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How Did Your Core 1 Task Go?</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4206240"/>
          </a:xfrm>
          <a:prstGeom prst="rect">
            <a:avLst/>
          </a:prstGeom>
          <a:solidFill>
            <a:srgbClr val="FFFFFF"/>
          </a:solidFill>
          <a:ln w="9525">
            <a:solidFill>
              <a:srgbClr val="D0D3D4"/>
            </a:solidFill>
            <a:prstDash val="solid"/>
          </a:ln>
        </p:spPr>
      </p:sp>
      <p:sp>
        <p:nvSpPr>
          <p:cNvPr id="10" name="Shape 7"/>
          <p:cNvSpPr/>
          <p:nvPr/>
        </p:nvSpPr>
        <p:spPr>
          <a:xfrm>
            <a:off x="1028700" y="2697480"/>
            <a:ext cx="7863840" cy="777240"/>
          </a:xfrm>
          <a:prstGeom prst="rect">
            <a:avLst/>
          </a:prstGeom>
          <a:solidFill>
            <a:srgbClr val="006699"/>
          </a:solidFill>
          <a:ln/>
        </p:spPr>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In the Zoom chat, one line</a:t>
            </a:r>
            <a:endParaRPr lang="en-US" sz="2900" dirty="0"/>
          </a:p>
        </p:txBody>
      </p:sp>
      <p:sp>
        <p:nvSpPr>
          <p:cNvPr id="12" name="Text 9"/>
          <p:cNvSpPr txBox="1"/>
          <p:nvPr/>
        </p:nvSpPr>
        <p:spPr>
          <a:xfrm>
            <a:off x="1348740" y="3749040"/>
            <a:ext cx="7223760" cy="29260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What task did you try after Core 1?</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Did it help? What did you have to fix?</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Didn't get to it? Type the task you'll try today.</a:t>
            </a:r>
            <a:endParaRPr lang="en-US" sz="2400" dirty="0"/>
          </a:p>
        </p:txBody>
      </p:sp>
      <p:sp>
        <p:nvSpPr>
          <p:cNvPr id="13" name="Shape 10"/>
          <p:cNvSpPr/>
          <p:nvPr/>
        </p:nvSpPr>
        <p:spPr>
          <a:xfrm>
            <a:off x="9395460" y="2697480"/>
            <a:ext cx="7863840" cy="4206240"/>
          </a:xfrm>
          <a:prstGeom prst="rect">
            <a:avLst/>
          </a:prstGeom>
          <a:solidFill>
            <a:srgbClr val="FFFFFF"/>
          </a:solidFill>
          <a:ln w="9525">
            <a:solidFill>
              <a:srgbClr val="D0D3D4"/>
            </a:solidFill>
            <a:prstDash val="solid"/>
          </a:ln>
        </p:spPr>
      </p:sp>
      <p:sp>
        <p:nvSpPr>
          <p:cNvPr id="14" name="Shape 11"/>
          <p:cNvSpPr/>
          <p:nvPr/>
        </p:nvSpPr>
        <p:spPr>
          <a:xfrm>
            <a:off x="9395460" y="2697480"/>
            <a:ext cx="7863840" cy="777240"/>
          </a:xfrm>
          <a:prstGeom prst="rect">
            <a:avLst/>
          </a:prstGeom>
          <a:solidFill>
            <a:srgbClr val="07294D"/>
          </a:solidFill>
          <a:ln/>
        </p:spPr>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How today works on Zoom</a:t>
            </a:r>
            <a:endParaRPr lang="en-US" sz="2900" dirty="0"/>
          </a:p>
        </p:txBody>
      </p:sp>
      <p:sp>
        <p:nvSpPr>
          <p:cNvPr id="16" name="Text 13"/>
          <p:cNvSpPr txBox="1"/>
          <p:nvPr/>
        </p:nvSpPr>
        <p:spPr>
          <a:xfrm>
            <a:off x="9715500" y="3749040"/>
            <a:ext cx="7223760" cy="29260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Put Zoom and your browser side by side.</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React with a thumbs-up when you finish a step.</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Stuck? Say so in the chat and we'll help.</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Demo file links are in the chat.</a:t>
            </a:r>
            <a:endParaRPr 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01</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Plan First, Then Draft or Refine</a:t>
            </a:r>
            <a:endParaRPr lang="en-US" sz="7400" dirty="0"/>
          </a:p>
        </p:txBody>
      </p:sp>
      <p:sp>
        <p:nvSpPr>
          <p:cNvPr id="4" name="Shape 2"/>
          <p:cNvSpPr/>
          <p:nvPr/>
        </p:nvSpPr>
        <p:spPr>
          <a:xfrm>
            <a:off x="1028700" y="5074920"/>
            <a:ext cx="777240" cy="73152"/>
          </a:xfrm>
          <a:prstGeom prst="rect">
            <a:avLst/>
          </a:prstGeom>
          <a:solidFill>
            <a:srgbClr val="FFC600"/>
          </a:solidFill>
          <a:ln/>
        </p:spPr>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Your plan comes before any AI draft. Then decide what AI should do with it.</a:t>
            </a:r>
            <a:endParaRPr lang="en-US"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5.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6.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7.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WHICH TOOL TO OPEN</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Two Tools, Same Steps</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5029200" cy="3566160"/>
          </a:xfrm>
          <a:prstGeom prst="rect">
            <a:avLst/>
          </a:prstGeom>
          <a:solidFill>
            <a:srgbClr val="FFFFFF"/>
          </a:solidFill>
          <a:ln w="9525">
            <a:solidFill>
              <a:srgbClr val="D0D3D4"/>
            </a:solidFill>
            <a:prstDash val="solid"/>
          </a:ln>
        </p:spPr>
      </p:sp>
      <p:sp>
        <p:nvSpPr>
          <p:cNvPr id="10" name="Shape 7"/>
          <p:cNvSpPr/>
          <p:nvPr/>
        </p:nvSpPr>
        <p:spPr>
          <a:xfrm>
            <a:off x="1028700" y="2697480"/>
            <a:ext cx="5029200" cy="91440"/>
          </a:xfrm>
          <a:prstGeom prst="rect">
            <a:avLst/>
          </a:prstGeom>
          <a:solidFill>
            <a:srgbClr val="07294D"/>
          </a:solidFill>
          <a:ln/>
        </p:spPr>
      </p:sp>
      <p:sp>
        <p:nvSpPr>
          <p:cNvPr id="11" name="Text 8"/>
          <p:cNvSpPr txBox="1"/>
          <p:nvPr/>
        </p:nvSpPr>
        <p:spPr>
          <a:xfrm>
            <a:off x="1394460" y="3017520"/>
            <a:ext cx="4297680" cy="868680"/>
          </a:xfrm>
          <a:prstGeom prst="rect">
            <a:avLst/>
          </a:prstGeom>
          <a:noFill/>
          <a:ln/>
        </p:spPr>
        <p:txBody>
          <a:bodyPr wrap="square" lIns="0" tIns="0" rIns="0" bIns="0" rtlCol="0" anchor="t">
            <a:normAutofit/>
          </a:bodyPr>
          <a:lstStyle/>
          <a:p>
            <a:pPr indent="0" marL="0">
              <a:buNone/>
            </a:pPr>
            <a:r>
              <a:rPr lang="en-US" sz="2600" b="1" dirty="0">
                <a:solidFill>
                  <a:srgbClr val="07294D"/>
                </a:solidFill>
                <a:latin typeface="Georgia" pitchFamily="34" charset="0"/>
                <a:ea typeface="Georgia" pitchFamily="34" charset="-122"/>
                <a:cs typeface="Georgia" pitchFamily="34" charset="-120"/>
              </a:rPr>
              <a:t>Copilot Chat</a:t>
            </a:r>
            <a:endParaRPr lang="en-US" sz="2600" dirty="0"/>
          </a:p>
        </p:txBody>
      </p:sp>
      <p:sp>
        <p:nvSpPr>
          <p:cNvPr id="12" name="Text 9"/>
          <p:cNvSpPr txBox="1"/>
          <p:nvPr/>
        </p:nvSpPr>
        <p:spPr>
          <a:xfrm>
            <a:off x="1394460" y="3931920"/>
            <a:ext cx="4297680" cy="2148840"/>
          </a:xfrm>
          <a:prstGeom prst="rect">
            <a:avLst/>
          </a:prstGeom>
          <a:noFill/>
          <a:ln/>
        </p:spPr>
        <p:txBody>
          <a:bodyPr wrap="square" lIns="0" tIns="0" rIns="0" bIns="0" rtlCol="0" anchor="t"/>
          <a:lstStyle/>
          <a:p>
            <a:pPr indent="0" marL="0">
              <a:lnSpc>
                <a:spcPct val="125000"/>
              </a:lnSpc>
              <a:buNone/>
            </a:pPr>
            <a:r>
              <a:rPr lang="en-US" sz="2200" dirty="0">
                <a:solidFill>
                  <a:srgbClr val="5A6571"/>
                </a:solidFill>
                <a:latin typeface="Futura" pitchFamily="34" charset="0"/>
                <a:ea typeface="Futura" pitchFamily="34" charset="-122"/>
                <a:cs typeface="Futura" pitchFamily="34" charset="-120"/>
              </a:rPr>
              <a:t>m365.cloud.microsoft/chat, signed in with your Drexel account. Good for quick summaries and edits of Drexel documents and email.</a:t>
            </a:r>
            <a:endParaRPr lang="en-US" sz="2200" dirty="0"/>
          </a:p>
        </p:txBody>
      </p:sp>
      <p:sp>
        <p:nvSpPr>
          <p:cNvPr id="13" name="Shape 10"/>
          <p:cNvSpPr/>
          <p:nvPr/>
        </p:nvSpPr>
        <p:spPr>
          <a:xfrm>
            <a:off x="6629400" y="2697480"/>
            <a:ext cx="5029200" cy="3566160"/>
          </a:xfrm>
          <a:prstGeom prst="rect">
            <a:avLst/>
          </a:prstGeom>
          <a:solidFill>
            <a:srgbClr val="FFFFFF"/>
          </a:solidFill>
          <a:ln w="9525">
            <a:solidFill>
              <a:srgbClr val="D0D3D4"/>
            </a:solidFill>
            <a:prstDash val="solid"/>
          </a:ln>
        </p:spPr>
      </p:sp>
      <p:sp>
        <p:nvSpPr>
          <p:cNvPr id="14" name="Shape 11"/>
          <p:cNvSpPr/>
          <p:nvPr/>
        </p:nvSpPr>
        <p:spPr>
          <a:xfrm>
            <a:off x="6629400" y="2697480"/>
            <a:ext cx="5029200" cy="91440"/>
          </a:xfrm>
          <a:prstGeom prst="rect">
            <a:avLst/>
          </a:prstGeom>
          <a:solidFill>
            <a:srgbClr val="006699"/>
          </a:solidFill>
          <a:ln/>
        </p:spPr>
      </p:sp>
      <p:sp>
        <p:nvSpPr>
          <p:cNvPr id="15" name="Text 12"/>
          <p:cNvSpPr txBox="1"/>
          <p:nvPr/>
        </p:nvSpPr>
        <p:spPr>
          <a:xfrm>
            <a:off x="6995160" y="3017520"/>
            <a:ext cx="4297680" cy="868680"/>
          </a:xfrm>
          <a:prstGeom prst="rect">
            <a:avLst/>
          </a:prstGeom>
          <a:noFill/>
          <a:ln/>
        </p:spPr>
        <p:txBody>
          <a:bodyPr wrap="square" lIns="0" tIns="0" rIns="0" bIns="0" rtlCol="0" anchor="t">
            <a:normAutofit/>
          </a:bodyPr>
          <a:lstStyle/>
          <a:p>
            <a:pPr indent="0" marL="0">
              <a:buNone/>
            </a:pPr>
            <a:r>
              <a:rPr lang="en-US" sz="2600" b="1" dirty="0">
                <a:solidFill>
                  <a:srgbClr val="07294D"/>
                </a:solidFill>
                <a:latin typeface="Georgia" pitchFamily="34" charset="0"/>
                <a:ea typeface="Georgia" pitchFamily="34" charset="-122"/>
                <a:cs typeface="Georgia" pitchFamily="34" charset="-120"/>
              </a:rPr>
              <a:t>ChatGPT Edu</a:t>
            </a:r>
            <a:endParaRPr lang="en-US" sz="2600" dirty="0"/>
          </a:p>
        </p:txBody>
      </p:sp>
      <p:sp>
        <p:nvSpPr>
          <p:cNvPr id="16" name="Text 13"/>
          <p:cNvSpPr txBox="1"/>
          <p:nvPr/>
        </p:nvSpPr>
        <p:spPr>
          <a:xfrm>
            <a:off x="6995160" y="3931920"/>
            <a:ext cx="4297680" cy="2148840"/>
          </a:xfrm>
          <a:prstGeom prst="rect">
            <a:avLst/>
          </a:prstGeom>
          <a:noFill/>
          <a:ln/>
        </p:spPr>
        <p:txBody>
          <a:bodyPr wrap="square" lIns="0" tIns="0" rIns="0" bIns="0" rtlCol="0" anchor="t"/>
          <a:lstStyle/>
          <a:p>
            <a:pPr indent="0" marL="0">
              <a:lnSpc>
                <a:spcPct val="125000"/>
              </a:lnSpc>
              <a:buNone/>
            </a:pPr>
            <a:r>
              <a:rPr lang="en-US" sz="2200" dirty="0">
                <a:solidFill>
                  <a:srgbClr val="5A6571"/>
                </a:solidFill>
                <a:latin typeface="Futura" pitchFamily="34" charset="0"/>
                <a:ea typeface="Futura" pitchFamily="34" charset="-122"/>
                <a:cs typeface="Futura" pitchFamily="34" charset="-120"/>
              </a:rPr>
              <a:t>The Drexel workspace you used in Core 1. Good for longer drafting, going back and forth, and (in Core 3) saved assistants.</a:t>
            </a:r>
            <a:endParaRPr lang="en-US" sz="2200" dirty="0"/>
          </a:p>
        </p:txBody>
      </p:sp>
      <p:sp>
        <p:nvSpPr>
          <p:cNvPr id="17" name="Shape 14"/>
          <p:cNvSpPr/>
          <p:nvPr/>
        </p:nvSpPr>
        <p:spPr>
          <a:xfrm>
            <a:off x="12230100" y="2697480"/>
            <a:ext cx="5029200" cy="3566160"/>
          </a:xfrm>
          <a:prstGeom prst="rect">
            <a:avLst/>
          </a:prstGeom>
          <a:solidFill>
            <a:srgbClr val="FFFFFF"/>
          </a:solidFill>
          <a:ln w="9525">
            <a:solidFill>
              <a:srgbClr val="D0D3D4"/>
            </a:solidFill>
            <a:prstDash val="solid"/>
          </a:ln>
        </p:spPr>
      </p:sp>
      <p:sp>
        <p:nvSpPr>
          <p:cNvPr id="18" name="Shape 15"/>
          <p:cNvSpPr/>
          <p:nvPr/>
        </p:nvSpPr>
        <p:spPr>
          <a:xfrm>
            <a:off x="12230100" y="2697480"/>
            <a:ext cx="5029200" cy="91440"/>
          </a:xfrm>
          <a:prstGeom prst="rect">
            <a:avLst/>
          </a:prstGeom>
          <a:solidFill>
            <a:srgbClr val="FFC600"/>
          </a:solidFill>
          <a:ln/>
        </p:spPr>
      </p:sp>
      <p:sp>
        <p:nvSpPr>
          <p:cNvPr id="19" name="Text 16"/>
          <p:cNvSpPr txBox="1"/>
          <p:nvPr/>
        </p:nvSpPr>
        <p:spPr>
          <a:xfrm>
            <a:off x="12595860" y="3017520"/>
            <a:ext cx="4297680" cy="868680"/>
          </a:xfrm>
          <a:prstGeom prst="rect">
            <a:avLst/>
          </a:prstGeom>
          <a:noFill/>
          <a:ln/>
        </p:spPr>
        <p:txBody>
          <a:bodyPr wrap="square" lIns="0" tIns="0" rIns="0" bIns="0" rtlCol="0" anchor="t">
            <a:normAutofit/>
          </a:bodyPr>
          <a:lstStyle/>
          <a:p>
            <a:pPr indent="0" marL="0">
              <a:buNone/>
            </a:pPr>
            <a:r>
              <a:rPr lang="en-US" sz="2600" b="1" dirty="0">
                <a:solidFill>
                  <a:srgbClr val="07294D"/>
                </a:solidFill>
                <a:latin typeface="Georgia" pitchFamily="34" charset="0"/>
                <a:ea typeface="Georgia" pitchFamily="34" charset="-122"/>
                <a:cs typeface="Georgia" pitchFamily="34" charset="-120"/>
              </a:rPr>
              <a:t>Same Steps in Both</a:t>
            </a:r>
            <a:endParaRPr lang="en-US" sz="2600" dirty="0"/>
          </a:p>
        </p:txBody>
      </p:sp>
      <p:sp>
        <p:nvSpPr>
          <p:cNvPr id="20" name="Text 17"/>
          <p:cNvSpPr txBox="1"/>
          <p:nvPr/>
        </p:nvSpPr>
        <p:spPr>
          <a:xfrm>
            <a:off x="12595860" y="3931920"/>
            <a:ext cx="4297680" cy="2148840"/>
          </a:xfrm>
          <a:prstGeom prst="rect">
            <a:avLst/>
          </a:prstGeom>
          <a:noFill/>
          <a:ln/>
        </p:spPr>
        <p:txBody>
          <a:bodyPr wrap="square" lIns="0" tIns="0" rIns="0" bIns="0" rtlCol="0" anchor="t"/>
          <a:lstStyle/>
          <a:p>
            <a:pPr indent="0" marL="0">
              <a:lnSpc>
                <a:spcPct val="125000"/>
              </a:lnSpc>
              <a:buNone/>
            </a:pPr>
            <a:r>
              <a:rPr lang="en-US" sz="2200" dirty="0">
                <a:solidFill>
                  <a:srgbClr val="5A6571"/>
                </a:solidFill>
                <a:latin typeface="Futura" pitchFamily="34" charset="0"/>
                <a:ea typeface="Futura" pitchFamily="34" charset="-122"/>
                <a:cs typeface="Futura" pitchFamily="34" charset="-120"/>
              </a:rPr>
              <a:t>Paste the text, or upload the file with the + button. Ask. Check. Copy the answer back into your document.</a:t>
            </a:r>
            <a:endParaRPr lang="en-US" sz="2200" dirty="0"/>
          </a:p>
        </p:txBody>
      </p:sp>
      <p:sp>
        <p:nvSpPr>
          <p:cNvPr id="21" name="Shape 18"/>
          <p:cNvSpPr/>
          <p:nvPr/>
        </p:nvSpPr>
        <p:spPr>
          <a:xfrm>
            <a:off x="1028700" y="6675120"/>
            <a:ext cx="16230600" cy="914400"/>
          </a:xfrm>
          <a:prstGeom prst="rect">
            <a:avLst/>
          </a:prstGeom>
          <a:solidFill>
            <a:srgbClr val="FFF8DB"/>
          </a:solidFill>
          <a:ln/>
        </p:spPr>
      </p:sp>
      <p:sp>
        <p:nvSpPr>
          <p:cNvPr id="22" name="Shape 19"/>
          <p:cNvSpPr/>
          <p:nvPr/>
        </p:nvSpPr>
        <p:spPr>
          <a:xfrm>
            <a:off x="1028700" y="6675120"/>
            <a:ext cx="82296" cy="914400"/>
          </a:xfrm>
          <a:prstGeom prst="rect">
            <a:avLst/>
          </a:prstGeom>
          <a:solidFill>
            <a:srgbClr val="FFC600"/>
          </a:solidFill>
          <a:ln/>
        </p:spPr>
      </p:sp>
      <p:sp>
        <p:nvSpPr>
          <p:cNvPr id="23" name="Text 20"/>
          <p:cNvSpPr txBox="1"/>
          <p:nvPr/>
        </p:nvSpPr>
        <p:spPr>
          <a:xfrm>
            <a:off x="1348740" y="6675120"/>
            <a:ext cx="15681960" cy="914400"/>
          </a:xfrm>
          <a:prstGeom prst="rect">
            <a:avLst/>
          </a:prstGeom>
          <a:noFill/>
          <a:ln/>
        </p:spPr>
        <p:txBody>
          <a:bodyPr wrap="square" lIns="0" tIns="0" rIns="0" bIns="0" rtlCol="0" anchor="ctr"/>
          <a:lstStyle/>
          <a:p>
            <a:pPr indent="0" marL="0">
              <a:buNone/>
            </a:pPr>
            <a:r>
              <a:rPr lang="en-US" sz="2400" b="1" dirty="0">
                <a:solidFill>
                  <a:srgbClr val="07294D"/>
                </a:solidFill>
                <a:latin typeface="Futura" pitchFamily="34" charset="0"/>
                <a:ea typeface="Futura" pitchFamily="34" charset="-122"/>
                <a:cs typeface="Futura" pitchFamily="34" charset="-120"/>
              </a:rPr>
              <a:t>No Copilot inside Word or Excel at Drexel. You don't need it: upload the file or paste the text, then copy the answer back.</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TOOLS &amp; DATA</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Same Data Rule as Core 1</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7863840" cy="4480560"/>
          </a:xfrm>
          <a:prstGeom prst="rect">
            <a:avLst/>
          </a:prstGeom>
          <a:solidFill>
            <a:srgbClr val="FFFFFF"/>
          </a:solidFill>
          <a:ln w="9525">
            <a:solidFill>
              <a:srgbClr val="D0D3D4"/>
            </a:solidFill>
            <a:prstDash val="solid"/>
          </a:ln>
        </p:spPr>
      </p:sp>
      <p:sp>
        <p:nvSpPr>
          <p:cNvPr id="10" name="Shape 7"/>
          <p:cNvSpPr/>
          <p:nvPr/>
        </p:nvSpPr>
        <p:spPr>
          <a:xfrm>
            <a:off x="1028700" y="2697480"/>
            <a:ext cx="7863840" cy="777240"/>
          </a:xfrm>
          <a:prstGeom prst="rect">
            <a:avLst/>
          </a:prstGeom>
          <a:solidFill>
            <a:srgbClr val="006699"/>
          </a:solidFill>
          <a:ln/>
        </p:spPr>
      </p:sp>
      <p:sp>
        <p:nvSpPr>
          <p:cNvPr id="11" name="Text 8"/>
          <p:cNvSpPr txBox="1"/>
          <p:nvPr/>
        </p:nvSpPr>
        <p:spPr>
          <a:xfrm>
            <a:off x="134874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Fine to use</a:t>
            </a:r>
            <a:endParaRPr lang="en-US" sz="2900" dirty="0"/>
          </a:p>
        </p:txBody>
      </p:sp>
      <p:sp>
        <p:nvSpPr>
          <p:cNvPr id="12" name="Text 9"/>
          <p:cNvSpPr txBox="1"/>
          <p:nvPr/>
        </p:nvSpPr>
        <p:spPr>
          <a:xfrm>
            <a:off x="1348740" y="3749040"/>
            <a:ext cx="722376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Your own drafts, notes, and announcements</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Committee and project email without sensitive details</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Public documents and published papers</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Made-up versions of anything sensitive</a:t>
            </a:r>
            <a:endParaRPr lang="en-US" sz="2400" dirty="0"/>
          </a:p>
        </p:txBody>
      </p:sp>
      <p:sp>
        <p:nvSpPr>
          <p:cNvPr id="13" name="Shape 10"/>
          <p:cNvSpPr/>
          <p:nvPr/>
        </p:nvSpPr>
        <p:spPr>
          <a:xfrm>
            <a:off x="9395460" y="2697480"/>
            <a:ext cx="7863840" cy="4480560"/>
          </a:xfrm>
          <a:prstGeom prst="rect">
            <a:avLst/>
          </a:prstGeom>
          <a:solidFill>
            <a:srgbClr val="FFFFFF"/>
          </a:solidFill>
          <a:ln w="9525">
            <a:solidFill>
              <a:srgbClr val="D0D3D4"/>
            </a:solidFill>
            <a:prstDash val="solid"/>
          </a:ln>
        </p:spPr>
      </p:sp>
      <p:sp>
        <p:nvSpPr>
          <p:cNvPr id="14" name="Shape 11"/>
          <p:cNvSpPr/>
          <p:nvPr/>
        </p:nvSpPr>
        <p:spPr>
          <a:xfrm>
            <a:off x="9395460" y="2697480"/>
            <a:ext cx="7863840" cy="777240"/>
          </a:xfrm>
          <a:prstGeom prst="rect">
            <a:avLst/>
          </a:prstGeom>
          <a:solidFill>
            <a:srgbClr val="971B2F"/>
          </a:solidFill>
          <a:ln/>
        </p:spPr>
      </p:sp>
      <p:sp>
        <p:nvSpPr>
          <p:cNvPr id="15" name="Text 12"/>
          <p:cNvSpPr txBox="1"/>
          <p:nvPr/>
        </p:nvSpPr>
        <p:spPr>
          <a:xfrm>
            <a:off x="9715500" y="2697480"/>
            <a:ext cx="7223760" cy="777240"/>
          </a:xfrm>
          <a:prstGeom prst="rect">
            <a:avLst/>
          </a:prstGeom>
          <a:noFill/>
          <a:ln/>
        </p:spPr>
        <p:txBody>
          <a:bodyPr wrap="square" lIns="0" tIns="0" rIns="0" bIns="0" rtlCol="0" anchor="ctr"/>
          <a:lstStyle/>
          <a:p>
            <a:pPr indent="0" marL="0">
              <a:buNone/>
            </a:pPr>
            <a:r>
              <a:rPr lang="en-US" sz="2900" b="1" dirty="0">
                <a:solidFill>
                  <a:srgbClr val="FFFFFF"/>
                </a:solidFill>
                <a:latin typeface="Georgia" pitchFamily="34" charset="0"/>
                <a:ea typeface="Georgia" pitchFamily="34" charset="-122"/>
                <a:cs typeface="Georgia" pitchFamily="34" charset="-120"/>
              </a:rPr>
              <a:t>Never paste in</a:t>
            </a:r>
            <a:endParaRPr lang="en-US" sz="2900" dirty="0"/>
          </a:p>
        </p:txBody>
      </p:sp>
      <p:sp>
        <p:nvSpPr>
          <p:cNvPr id="16" name="Text 13"/>
          <p:cNvSpPr txBox="1"/>
          <p:nvPr/>
        </p:nvSpPr>
        <p:spPr>
          <a:xfrm>
            <a:off x="9715500" y="3749040"/>
            <a:ext cx="7223760" cy="320040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Health information about a person</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Student records or Social Security numbers</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Identifiable research data</a:t>
            </a:r>
            <a:endParaRPr lang="en-US" sz="2400" dirty="0"/>
          </a:p>
          <a:p>
            <a:pPr marL="279400" indent="-279400">
              <a:lnSpc>
                <a:spcPct val="120000"/>
              </a:lnSpc>
              <a:spcAft>
                <a:spcPts val="1200"/>
              </a:spcAft>
              <a:buSzPct val="100000"/>
              <a:buChar char="•"/>
            </a:pPr>
            <a:r>
              <a:rPr lang="en-US" sz="2400" dirty="0">
                <a:solidFill>
                  <a:srgbClr val="1C2530"/>
                </a:solidFill>
                <a:latin typeface="Futura" pitchFamily="34" charset="0"/>
                <a:ea typeface="Futura" pitchFamily="34" charset="-122"/>
                <a:cs typeface="Futura" pitchFamily="34" charset="-120"/>
              </a:rPr>
              <a:t>When in doubt, leave it out or make the details up</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02</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Check Before You Use It</a:t>
            </a:r>
            <a:endParaRPr lang="en-US" sz="7400" dirty="0"/>
          </a:p>
        </p:txBody>
      </p:sp>
      <p:sp>
        <p:nvSpPr>
          <p:cNvPr id="4" name="Shape 2"/>
          <p:cNvSpPr/>
          <p:nvPr/>
        </p:nvSpPr>
        <p:spPr>
          <a:xfrm>
            <a:off x="1028700" y="5074920"/>
            <a:ext cx="777240" cy="73152"/>
          </a:xfrm>
          <a:prstGeom prst="rect">
            <a:avLst/>
          </a:prstGeom>
          <a:solidFill>
            <a:srgbClr val="FFC600"/>
          </a:solidFill>
          <a:ln/>
        </p:spPr>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Three quick questions before anything leaves your hands.</a:t>
            </a:r>
            <a:endParaRPr lang="en-US" sz="2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11.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7"/>
        </a:solidFill>
      </p:bgPr>
    </p:bg>
    <p:spTree>
      <p:nvGrpSpPr>
        <p:cNvPr id="1" name=""/>
        <p:cNvGrpSpPr/>
        <p:nvPr/>
      </p:nvGrpSpPr>
      <p:grpSpPr>
        <a:xfrm>
          <a:off x="0" y="0"/>
          <a:ext cx="0" cy="0"/>
          <a:chOff x="0" y="0"/>
          <a:chExt cx="0" cy="0"/>
        </a:xfrm>
      </p:grpSpPr>
      <p:sp>
        <p:nvSpPr>
          <p:cNvPr id="2" name="Text 0"/>
          <p:cNvSpPr txBox="1"/>
          <p:nvPr/>
        </p:nvSpPr>
        <p:spPr>
          <a:xfrm>
            <a:off x="1737360" y="2651760"/>
            <a:ext cx="1828800" cy="1280160"/>
          </a:xfrm>
          <a:prstGeom prst="rect">
            <a:avLst/>
          </a:prstGeom>
          <a:noFill/>
          <a:ln/>
        </p:spPr>
        <p:txBody>
          <a:bodyPr wrap="square" lIns="0" tIns="0" rIns="0" bIns="0" rtlCol="0" anchor="t"/>
          <a:lstStyle/>
          <a:p>
            <a:pPr indent="0" marL="0">
              <a:buNone/>
            </a:pPr>
            <a:r>
              <a:rPr lang="en-US" sz="14400" b="1" dirty="0">
                <a:solidFill>
                  <a:srgbClr val="FFC600"/>
                </a:solidFill>
                <a:latin typeface="Georgia" pitchFamily="34" charset="0"/>
                <a:ea typeface="Georgia" pitchFamily="34" charset="-122"/>
                <a:cs typeface="Georgia" pitchFamily="34" charset="-120"/>
              </a:rPr>
              <a:t>“</a:t>
            </a:r>
            <a:endParaRPr lang="en-US" sz="14400" dirty="0"/>
          </a:p>
        </p:txBody>
      </p:sp>
      <p:sp>
        <p:nvSpPr>
          <p:cNvPr id="3" name="Text 1"/>
          <p:cNvSpPr txBox="1"/>
          <p:nvPr/>
        </p:nvSpPr>
        <p:spPr>
          <a:xfrm>
            <a:off x="1737360" y="3931920"/>
            <a:ext cx="14630400" cy="118872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If you can’t open it, you can’t cite it.</a:t>
            </a:r>
            <a:endParaRPr lang="en-US" sz="5500" dirty="0"/>
          </a:p>
        </p:txBody>
      </p:sp>
      <p:sp>
        <p:nvSpPr>
          <p:cNvPr id="4" name="Shape 2"/>
          <p:cNvSpPr/>
          <p:nvPr/>
        </p:nvSpPr>
        <p:spPr>
          <a:xfrm>
            <a:off x="1737360" y="5486400"/>
            <a:ext cx="64008" cy="822960"/>
          </a:xfrm>
          <a:prstGeom prst="rect">
            <a:avLst/>
          </a:prstGeom>
          <a:solidFill>
            <a:srgbClr val="FFC600"/>
          </a:solidFill>
          <a:ln/>
        </p:spPr>
      </p:sp>
      <p:sp>
        <p:nvSpPr>
          <p:cNvPr id="5" name="Text 3"/>
          <p:cNvSpPr txBox="1"/>
          <p:nvPr/>
        </p:nvSpPr>
        <p:spPr>
          <a:xfrm>
            <a:off x="2011680" y="5486400"/>
            <a:ext cx="10972800" cy="365760"/>
          </a:xfrm>
          <a:prstGeom prst="rect">
            <a:avLst/>
          </a:prstGeom>
          <a:noFill/>
          <a:ln/>
        </p:spPr>
        <p:txBody>
          <a:bodyPr wrap="square" lIns="0" tIns="0" rIns="0" bIns="0" rtlCol="0" anchor="t"/>
          <a:lstStyle/>
          <a:p>
            <a:pPr indent="0" marL="0">
              <a:buNone/>
            </a:pPr>
            <a:r>
              <a:rPr lang="en-US" sz="2400" b="1" dirty="0">
                <a:solidFill>
                  <a:srgbClr val="07294D"/>
                </a:solidFill>
                <a:latin typeface="Futura" pitchFamily="34" charset="0"/>
                <a:ea typeface="Futura" pitchFamily="34" charset="-122"/>
                <a:cs typeface="Futura" pitchFamily="34" charset="-120"/>
              </a:rPr>
              <a:t>A rule worth keeping</a:t>
            </a:r>
            <a:endParaRPr lang="en-US" sz="2400" dirty="0"/>
          </a:p>
        </p:txBody>
      </p:sp>
      <p:sp>
        <p:nvSpPr>
          <p:cNvPr id="6" name="Text 4"/>
          <p:cNvSpPr txBox="1"/>
          <p:nvPr/>
        </p:nvSpPr>
        <p:spPr>
          <a:xfrm>
            <a:off x="2011680" y="5897880"/>
            <a:ext cx="12801600" cy="365760"/>
          </a:xfrm>
          <a:prstGeom prst="rect">
            <a:avLst/>
          </a:prstGeom>
          <a:noFill/>
          <a:ln/>
        </p:spPr>
        <p:txBody>
          <a:bodyPr wrap="square" lIns="0" tIns="0" rIns="0" bIns="0" rtlCol="0" anchor="t"/>
          <a:lstStyle/>
          <a:p>
            <a:pPr indent="0" marL="0">
              <a:buNone/>
            </a:pPr>
            <a:r>
              <a:rPr lang="en-US" sz="2000" dirty="0">
                <a:solidFill>
                  <a:srgbClr val="5A6571"/>
                </a:solidFill>
                <a:latin typeface="Futura" pitchFamily="34" charset="0"/>
                <a:ea typeface="Futura" pitchFamily="34" charset="-122"/>
                <a:cs typeface="Futura" pitchFamily="34" charset="-120"/>
              </a:rPr>
              <a:t>Treat every AI-supplied figure as unverified until you’ve confirmed it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294D"/>
        </a:solidFill>
      </p:bgPr>
    </p:bg>
    <p:spTree>
      <p:nvGrpSpPr>
        <p:cNvPr id="1" name=""/>
        <p:cNvGrpSpPr/>
        <p:nvPr/>
      </p:nvGrpSpPr>
      <p:grpSpPr>
        <a:xfrm>
          <a:off x="0" y="0"/>
          <a:ext cx="0" cy="0"/>
          <a:chOff x="0" y="0"/>
          <a:chExt cx="0" cy="0"/>
        </a:xfrm>
      </p:grpSpPr>
      <p:sp>
        <p:nvSpPr>
          <p:cNvPr id="2" name="Text 0"/>
          <p:cNvSpPr txBox="1"/>
          <p:nvPr/>
        </p:nvSpPr>
        <p:spPr>
          <a:xfrm>
            <a:off x="1028700" y="33832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SECTION 03</a:t>
            </a:r>
            <a:endParaRPr lang="en-US" sz="1800" dirty="0"/>
          </a:p>
        </p:txBody>
      </p:sp>
      <p:sp>
        <p:nvSpPr>
          <p:cNvPr id="3" name="Text 1"/>
          <p:cNvSpPr txBox="1"/>
          <p:nvPr/>
        </p:nvSpPr>
        <p:spPr>
          <a:xfrm>
            <a:off x="1028700" y="3749040"/>
            <a:ext cx="16230600" cy="1097280"/>
          </a:xfrm>
          <a:prstGeom prst="rect">
            <a:avLst/>
          </a:prstGeom>
          <a:noFill/>
          <a:ln/>
        </p:spPr>
        <p:txBody>
          <a:bodyPr wrap="square" lIns="0" tIns="0" rIns="0" bIns="0" rtlCol="0" anchor="ctr"/>
          <a:lstStyle/>
          <a:p>
            <a:pPr indent="0" marL="0">
              <a:buNone/>
            </a:pPr>
            <a:r>
              <a:rPr lang="en-US" sz="7400" b="1" dirty="0">
                <a:solidFill>
                  <a:srgbClr val="FFFFFF"/>
                </a:solidFill>
                <a:latin typeface="Georgia" pitchFamily="34" charset="0"/>
                <a:ea typeface="Georgia" pitchFamily="34" charset="-122"/>
                <a:cs typeface="Georgia" pitchFamily="34" charset="-120"/>
              </a:rPr>
              <a:t>Hands-On</a:t>
            </a:r>
            <a:endParaRPr lang="en-US" sz="7400" dirty="0"/>
          </a:p>
        </p:txBody>
      </p:sp>
      <p:sp>
        <p:nvSpPr>
          <p:cNvPr id="4" name="Shape 2"/>
          <p:cNvSpPr/>
          <p:nvPr/>
        </p:nvSpPr>
        <p:spPr>
          <a:xfrm>
            <a:off x="1028700" y="5074920"/>
            <a:ext cx="777240" cy="73152"/>
          </a:xfrm>
          <a:prstGeom prst="rect">
            <a:avLst/>
          </a:prstGeom>
          <a:solidFill>
            <a:srgbClr val="FFC600"/>
          </a:solidFill>
          <a:ln/>
        </p:spPr>
      </p:sp>
      <p:sp>
        <p:nvSpPr>
          <p:cNvPr id="5" name="Text 3"/>
          <p:cNvSpPr txBox="1"/>
          <p:nvPr/>
        </p:nvSpPr>
        <p:spPr>
          <a:xfrm>
            <a:off x="1028700" y="5486400"/>
            <a:ext cx="13258800" cy="914400"/>
          </a:xfrm>
          <a:prstGeom prst="rect">
            <a:avLst/>
          </a:prstGeom>
          <a:noFill/>
          <a:ln/>
        </p:spPr>
        <p:txBody>
          <a:bodyPr wrap="square" lIns="0" tIns="0" rIns="0" bIns="0" rtlCol="0" anchor="t"/>
          <a:lstStyle/>
          <a:p>
            <a:pPr indent="0" marL="0">
              <a:buNone/>
            </a:pPr>
            <a:r>
              <a:rPr lang="en-US" sz="2800" dirty="0">
                <a:solidFill>
                  <a:srgbClr val="C7D2DF"/>
                </a:solidFill>
                <a:latin typeface="Futura" pitchFamily="34" charset="0"/>
                <a:ea typeface="Futura" pitchFamily="34" charset="-122"/>
                <a:cs typeface="Futura" pitchFamily="34" charset="-120"/>
              </a:rPr>
              <a:t>Upload a file together, then pick one everyday job, then your own task. Demo file links are in the Zoom chat.</a:t>
            </a:r>
            <a:endParaRPr lang="en-US" sz="2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GUIDED START · ~5 MIN · FOLLOW ALONG</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Upload a File to Copilot Chat</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Shape 6"/>
          <p:cNvSpPr/>
          <p:nvPr/>
        </p:nvSpPr>
        <p:spPr>
          <a:xfrm>
            <a:off x="1028700" y="2697480"/>
            <a:ext cx="502920" cy="502920"/>
          </a:xfrm>
          <a:prstGeom prst="ellipse">
            <a:avLst/>
          </a:prstGeom>
          <a:solidFill>
            <a:srgbClr val="FFC600"/>
          </a:solidFill>
          <a:ln/>
        </p:spPr>
      </p:sp>
      <p:sp>
        <p:nvSpPr>
          <p:cNvPr id="10" name="Text 7"/>
          <p:cNvSpPr txBox="1"/>
          <p:nvPr/>
        </p:nvSpPr>
        <p:spPr>
          <a:xfrm>
            <a:off x="1028700" y="269748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1</a:t>
            </a:r>
            <a:endParaRPr lang="en-US" sz="2200" dirty="0"/>
          </a:p>
        </p:txBody>
      </p:sp>
      <p:sp>
        <p:nvSpPr>
          <p:cNvPr id="11" name="Text 8"/>
          <p:cNvSpPr txBox="1"/>
          <p:nvPr/>
        </p:nvSpPr>
        <p:spPr>
          <a:xfrm>
            <a:off x="1805940" y="269748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Download Workshop2_Demo_StudyDescription.docx (link in the Zoom chat).</a:t>
            </a:r>
            <a:endParaRPr lang="en-US" sz="2500" dirty="0"/>
          </a:p>
        </p:txBody>
      </p:sp>
      <p:sp>
        <p:nvSpPr>
          <p:cNvPr id="12" name="Shape 9"/>
          <p:cNvSpPr/>
          <p:nvPr/>
        </p:nvSpPr>
        <p:spPr>
          <a:xfrm>
            <a:off x="1028700" y="3566160"/>
            <a:ext cx="502920" cy="502920"/>
          </a:xfrm>
          <a:prstGeom prst="ellipse">
            <a:avLst/>
          </a:prstGeom>
          <a:solidFill>
            <a:srgbClr val="FFC600"/>
          </a:solidFill>
          <a:ln/>
        </p:spPr>
      </p:sp>
      <p:sp>
        <p:nvSpPr>
          <p:cNvPr id="13" name="Text 10"/>
          <p:cNvSpPr txBox="1"/>
          <p:nvPr/>
        </p:nvSpPr>
        <p:spPr>
          <a:xfrm>
            <a:off x="1028700" y="356616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2</a:t>
            </a:r>
            <a:endParaRPr lang="en-US" sz="2200" dirty="0"/>
          </a:p>
        </p:txBody>
      </p:sp>
      <p:sp>
        <p:nvSpPr>
          <p:cNvPr id="14" name="Text 11"/>
          <p:cNvSpPr txBox="1"/>
          <p:nvPr/>
        </p:nvSpPr>
        <p:spPr>
          <a:xfrm>
            <a:off x="1805940" y="356616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Go to m365.cloud.microsoft/chat and sign in with your Drexel account. Look for the shield icon.</a:t>
            </a:r>
            <a:endParaRPr lang="en-US" sz="2500" dirty="0"/>
          </a:p>
        </p:txBody>
      </p:sp>
      <p:sp>
        <p:nvSpPr>
          <p:cNvPr id="15" name="Shape 12"/>
          <p:cNvSpPr/>
          <p:nvPr/>
        </p:nvSpPr>
        <p:spPr>
          <a:xfrm>
            <a:off x="1028700" y="4434840"/>
            <a:ext cx="502920" cy="502920"/>
          </a:xfrm>
          <a:prstGeom prst="ellipse">
            <a:avLst/>
          </a:prstGeom>
          <a:solidFill>
            <a:srgbClr val="FFC600"/>
          </a:solidFill>
          <a:ln/>
        </p:spPr>
      </p:sp>
      <p:sp>
        <p:nvSpPr>
          <p:cNvPr id="16" name="Text 13"/>
          <p:cNvSpPr txBox="1"/>
          <p:nvPr/>
        </p:nvSpPr>
        <p:spPr>
          <a:xfrm>
            <a:off x="1028700" y="443484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3</a:t>
            </a:r>
            <a:endParaRPr lang="en-US" sz="2200" dirty="0"/>
          </a:p>
        </p:txBody>
      </p:sp>
      <p:sp>
        <p:nvSpPr>
          <p:cNvPr id="17" name="Text 14"/>
          <p:cNvSpPr txBox="1"/>
          <p:nvPr/>
        </p:nvSpPr>
        <p:spPr>
          <a:xfrm>
            <a:off x="1805940" y="443484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Click + next to the message box and upload the file (or paste the text).</a:t>
            </a:r>
            <a:endParaRPr lang="en-US" sz="2500" dirty="0"/>
          </a:p>
        </p:txBody>
      </p:sp>
      <p:sp>
        <p:nvSpPr>
          <p:cNvPr id="18" name="Shape 15"/>
          <p:cNvSpPr/>
          <p:nvPr/>
        </p:nvSpPr>
        <p:spPr>
          <a:xfrm>
            <a:off x="1028700" y="5303520"/>
            <a:ext cx="502920" cy="502920"/>
          </a:xfrm>
          <a:prstGeom prst="ellipse">
            <a:avLst/>
          </a:prstGeom>
          <a:solidFill>
            <a:srgbClr val="FFC600"/>
          </a:solidFill>
          <a:ln/>
        </p:spPr>
      </p:sp>
      <p:sp>
        <p:nvSpPr>
          <p:cNvPr id="19" name="Text 16"/>
          <p:cNvSpPr txBox="1"/>
          <p:nvPr/>
        </p:nvSpPr>
        <p:spPr>
          <a:xfrm>
            <a:off x="1028700" y="530352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4</a:t>
            </a:r>
            <a:endParaRPr lang="en-US" sz="2200" dirty="0"/>
          </a:p>
        </p:txBody>
      </p:sp>
      <p:sp>
        <p:nvSpPr>
          <p:cNvPr id="20" name="Text 17"/>
          <p:cNvSpPr txBox="1"/>
          <p:nvPr/>
        </p:nvSpPr>
        <p:spPr>
          <a:xfrm>
            <a:off x="1805940" y="530352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Type: “Summarize this document in 5 bullet points for a project status update.”</a:t>
            </a:r>
            <a:endParaRPr lang="en-US" sz="2500" dirty="0"/>
          </a:p>
        </p:txBody>
      </p:sp>
      <p:sp>
        <p:nvSpPr>
          <p:cNvPr id="21" name="Shape 18"/>
          <p:cNvSpPr/>
          <p:nvPr/>
        </p:nvSpPr>
        <p:spPr>
          <a:xfrm>
            <a:off x="1028700" y="6172200"/>
            <a:ext cx="502920" cy="502920"/>
          </a:xfrm>
          <a:prstGeom prst="ellipse">
            <a:avLst/>
          </a:prstGeom>
          <a:solidFill>
            <a:srgbClr val="FFC600"/>
          </a:solidFill>
          <a:ln/>
        </p:spPr>
      </p:sp>
      <p:sp>
        <p:nvSpPr>
          <p:cNvPr id="22" name="Text 19"/>
          <p:cNvSpPr txBox="1"/>
          <p:nvPr/>
        </p:nvSpPr>
        <p:spPr>
          <a:xfrm>
            <a:off x="1028700" y="6172200"/>
            <a:ext cx="502920" cy="502920"/>
          </a:xfrm>
          <a:prstGeom prst="rect">
            <a:avLst/>
          </a:prstGeom>
          <a:noFill/>
          <a:ln/>
        </p:spPr>
        <p:txBody>
          <a:bodyPr wrap="square" lIns="0" tIns="0" rIns="0" bIns="0" rtlCol="0" anchor="ctr"/>
          <a:lstStyle/>
          <a:p>
            <a:pPr algn="ctr" indent="0" marL="0">
              <a:buNone/>
            </a:pPr>
            <a:r>
              <a:rPr lang="en-US" sz="2200" b="1" dirty="0">
                <a:solidFill>
                  <a:srgbClr val="07294D"/>
                </a:solidFill>
                <a:latin typeface="Futura" pitchFamily="34" charset="0"/>
                <a:ea typeface="Futura" pitchFamily="34" charset="-122"/>
                <a:cs typeface="Futura" pitchFamily="34" charset="-120"/>
              </a:rPr>
              <a:t>5</a:t>
            </a:r>
            <a:endParaRPr lang="en-US" sz="2200" dirty="0"/>
          </a:p>
        </p:txBody>
      </p:sp>
      <p:sp>
        <p:nvSpPr>
          <p:cNvPr id="23" name="Text 20"/>
          <p:cNvSpPr txBox="1"/>
          <p:nvPr/>
        </p:nvSpPr>
        <p:spPr>
          <a:xfrm>
            <a:off x="1805940" y="6172200"/>
            <a:ext cx="15453360" cy="502920"/>
          </a:xfrm>
          <a:prstGeom prst="rect">
            <a:avLst/>
          </a:prstGeom>
          <a:noFill/>
          <a:ln/>
        </p:spPr>
        <p:txBody>
          <a:bodyPr wrap="square" lIns="0" tIns="0" rIns="0" bIns="0" rtlCol="0" anchor="ctr"/>
          <a:lstStyle/>
          <a:p>
            <a:pPr indent="0" marL="0">
              <a:buNone/>
            </a:pPr>
            <a:r>
              <a:rPr lang="en-US" sz="2500" dirty="0">
                <a:solidFill>
                  <a:srgbClr val="1C2530"/>
                </a:solidFill>
                <a:latin typeface="Futura" pitchFamily="34" charset="0"/>
                <a:ea typeface="Futura" pitchFamily="34" charset="-122"/>
                <a:cs typeface="Futura" pitchFamily="34" charset="-120"/>
              </a:rPr>
              <a:t>Follow up: “Now make it 3 bullets for a busy dean.”</a:t>
            </a:r>
            <a:endParaRPr lang="en-US" sz="2500" dirty="0"/>
          </a:p>
        </p:txBody>
      </p:sp>
      <p:sp>
        <p:nvSpPr>
          <p:cNvPr id="24" name="Text 21"/>
          <p:cNvSpPr txBox="1"/>
          <p:nvPr/>
        </p:nvSpPr>
        <p:spPr>
          <a:xfrm>
            <a:off x="1028700" y="7132320"/>
            <a:ext cx="14630400" cy="365760"/>
          </a:xfrm>
          <a:prstGeom prst="rect">
            <a:avLst/>
          </a:prstGeom>
          <a:noFill/>
          <a:ln/>
        </p:spPr>
        <p:txBody>
          <a:bodyPr wrap="square" lIns="0" tIns="0" rIns="0" bIns="0" rtlCol="0" anchor="t"/>
          <a:lstStyle/>
          <a:p>
            <a:pPr indent="0" marL="0">
              <a:buNone/>
            </a:pPr>
            <a:r>
              <a:rPr lang="en-US" sz="2000" i="1" dirty="0">
                <a:solidFill>
                  <a:srgbClr val="5A6571"/>
                </a:solidFill>
                <a:latin typeface="Futura" pitchFamily="34" charset="0"/>
                <a:ea typeface="Futura" pitchFamily="34" charset="-122"/>
                <a:cs typeface="Futura" pitchFamily="34" charset="-120"/>
              </a:rPr>
              <a:t>React with a thumbs-up in Zoom when you have an answer. The same steps work in ChatGPT Edu.</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ACTIVITY 1 · ~19 MIN</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Three Everyday Jobs: Pick One</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06040"/>
            <a:ext cx="15544800" cy="1005840"/>
          </a:xfrm>
          <a:prstGeom prst="rect">
            <a:avLst/>
          </a:prstGeom>
          <a:noFill/>
          <a:ln/>
        </p:spPr>
        <p:txBody>
          <a:bodyPr wrap="square" lIns="0" tIns="0" rIns="0" bIns="0" rtlCol="0" anchor="t"/>
          <a:lstStyle/>
          <a:p>
            <a:pPr indent="0" marL="0">
              <a:lnSpc>
                <a:spcPct val="120000"/>
              </a:lnSpc>
              <a:buNone/>
            </a:pPr>
            <a:r>
              <a:rPr lang="en-US" sz="2800" dirty="0">
                <a:solidFill>
                  <a:srgbClr val="1C2530"/>
                </a:solidFill>
                <a:latin typeface="Futura" pitchFamily="34" charset="0"/>
                <a:ea typeface="Futura" pitchFamily="34" charset="-122"/>
                <a:cs typeface="Futura" pitchFamily="34" charset="-120"/>
              </a:rPr>
              <a:t>Use Copilot Chat or ChatGPT Edu, on your own screen. Upload the demo file or use your own non-sensitive material. Questions go in the Zoom chat.</a:t>
            </a:r>
            <a:endParaRPr lang="en-US" sz="2800" dirty="0"/>
          </a:p>
        </p:txBody>
      </p:sp>
      <p:sp>
        <p:nvSpPr>
          <p:cNvPr id="10" name="Shape 7"/>
          <p:cNvSpPr/>
          <p:nvPr/>
        </p:nvSpPr>
        <p:spPr>
          <a:xfrm>
            <a:off x="1028700" y="3931920"/>
            <a:ext cx="5029200" cy="3017520"/>
          </a:xfrm>
          <a:prstGeom prst="rect">
            <a:avLst/>
          </a:prstGeom>
          <a:solidFill>
            <a:srgbClr val="FFFFFF"/>
          </a:solidFill>
          <a:ln w="9525">
            <a:solidFill>
              <a:srgbClr val="D0D3D4"/>
            </a:solidFill>
            <a:prstDash val="solid"/>
          </a:ln>
        </p:spPr>
      </p:sp>
      <p:sp>
        <p:nvSpPr>
          <p:cNvPr id="11" name="Shape 8"/>
          <p:cNvSpPr/>
          <p:nvPr/>
        </p:nvSpPr>
        <p:spPr>
          <a:xfrm>
            <a:off x="1028700" y="3931920"/>
            <a:ext cx="5029200" cy="91440"/>
          </a:xfrm>
          <a:prstGeom prst="rect">
            <a:avLst/>
          </a:prstGeom>
          <a:solidFill>
            <a:srgbClr val="07294D"/>
          </a:solidFill>
          <a:ln/>
        </p:spPr>
      </p:sp>
      <p:sp>
        <p:nvSpPr>
          <p:cNvPr id="12" name="Text 9"/>
          <p:cNvSpPr txBox="1"/>
          <p:nvPr/>
        </p:nvSpPr>
        <p:spPr>
          <a:xfrm>
            <a:off x="1394460" y="4251960"/>
            <a:ext cx="4297680" cy="868680"/>
          </a:xfrm>
          <a:prstGeom prst="rect">
            <a:avLst/>
          </a:prstGeom>
          <a:noFill/>
          <a:ln/>
        </p:spPr>
        <p:txBody>
          <a:bodyPr wrap="square" lIns="0" tIns="0" rIns="0" bIns="0" rtlCol="0" anchor="t">
            <a:normAutofit/>
          </a:bodyPr>
          <a:lstStyle/>
          <a:p>
            <a:pPr indent="0" marL="0">
              <a:buNone/>
            </a:pPr>
            <a:r>
              <a:rPr lang="en-US" sz="2600" b="1" dirty="0">
                <a:solidFill>
                  <a:srgbClr val="07294D"/>
                </a:solidFill>
                <a:latin typeface="Georgia" pitchFamily="34" charset="0"/>
                <a:ea typeface="Georgia" pitchFamily="34" charset="-122"/>
                <a:cs typeface="Georgia" pitchFamily="34" charset="-120"/>
              </a:rPr>
              <a:t>Job A · A Document</a:t>
            </a:r>
            <a:endParaRPr lang="en-US" sz="2600" dirty="0"/>
          </a:p>
        </p:txBody>
      </p:sp>
      <p:sp>
        <p:nvSpPr>
          <p:cNvPr id="13" name="Text 10"/>
          <p:cNvSpPr txBox="1"/>
          <p:nvPr/>
        </p:nvSpPr>
        <p:spPr>
          <a:xfrm>
            <a:off x="1394460" y="5166360"/>
            <a:ext cx="4297680" cy="1600200"/>
          </a:xfrm>
          <a:prstGeom prst="rect">
            <a:avLst/>
          </a:prstGeom>
          <a:noFill/>
          <a:ln/>
        </p:spPr>
        <p:txBody>
          <a:bodyPr wrap="square" lIns="0" tIns="0" rIns="0" bIns="0" rtlCol="0" anchor="t"/>
          <a:lstStyle/>
          <a:p>
            <a:pPr indent="0" marL="0">
              <a:lnSpc>
                <a:spcPct val="125000"/>
              </a:lnSpc>
              <a:buNone/>
            </a:pPr>
            <a:r>
              <a:rPr lang="en-US" sz="2200" dirty="0">
                <a:solidFill>
                  <a:srgbClr val="5A6571"/>
                </a:solidFill>
                <a:latin typeface="Futura" pitchFamily="34" charset="0"/>
                <a:ea typeface="Futura" pitchFamily="34" charset="-122"/>
                <a:cs typeface="Futura" pitchFamily="34" charset="-120"/>
              </a:rPr>
              <a:t>Summarize a study description, rewrite a paragraph for a community board, then find what's missing.</a:t>
            </a:r>
            <a:endParaRPr lang="en-US" sz="2200" dirty="0"/>
          </a:p>
        </p:txBody>
      </p:sp>
      <p:sp>
        <p:nvSpPr>
          <p:cNvPr id="14" name="Shape 11"/>
          <p:cNvSpPr/>
          <p:nvPr/>
        </p:nvSpPr>
        <p:spPr>
          <a:xfrm>
            <a:off x="6629400" y="3931920"/>
            <a:ext cx="5029200" cy="3017520"/>
          </a:xfrm>
          <a:prstGeom prst="rect">
            <a:avLst/>
          </a:prstGeom>
          <a:solidFill>
            <a:srgbClr val="FFFFFF"/>
          </a:solidFill>
          <a:ln w="9525">
            <a:solidFill>
              <a:srgbClr val="D0D3D4"/>
            </a:solidFill>
            <a:prstDash val="solid"/>
          </a:ln>
        </p:spPr>
      </p:sp>
      <p:sp>
        <p:nvSpPr>
          <p:cNvPr id="15" name="Shape 12"/>
          <p:cNvSpPr/>
          <p:nvPr/>
        </p:nvSpPr>
        <p:spPr>
          <a:xfrm>
            <a:off x="6629400" y="3931920"/>
            <a:ext cx="5029200" cy="91440"/>
          </a:xfrm>
          <a:prstGeom prst="rect">
            <a:avLst/>
          </a:prstGeom>
          <a:solidFill>
            <a:srgbClr val="006699"/>
          </a:solidFill>
          <a:ln/>
        </p:spPr>
      </p:sp>
      <p:sp>
        <p:nvSpPr>
          <p:cNvPr id="16" name="Text 13"/>
          <p:cNvSpPr txBox="1"/>
          <p:nvPr/>
        </p:nvSpPr>
        <p:spPr>
          <a:xfrm>
            <a:off x="6995160" y="4251960"/>
            <a:ext cx="4297680" cy="868680"/>
          </a:xfrm>
          <a:prstGeom prst="rect">
            <a:avLst/>
          </a:prstGeom>
          <a:noFill/>
          <a:ln/>
        </p:spPr>
        <p:txBody>
          <a:bodyPr wrap="square" lIns="0" tIns="0" rIns="0" bIns="0" rtlCol="0" anchor="t">
            <a:normAutofit/>
          </a:bodyPr>
          <a:lstStyle/>
          <a:p>
            <a:pPr indent="0" marL="0">
              <a:buNone/>
            </a:pPr>
            <a:r>
              <a:rPr lang="en-US" sz="2600" b="1" dirty="0">
                <a:solidFill>
                  <a:srgbClr val="07294D"/>
                </a:solidFill>
                <a:latin typeface="Georgia" pitchFamily="34" charset="0"/>
                <a:ea typeface="Georgia" pitchFamily="34" charset="-122"/>
                <a:cs typeface="Georgia" pitchFamily="34" charset="-120"/>
              </a:rPr>
              <a:t>Job B · An Email Thread</a:t>
            </a:r>
            <a:endParaRPr lang="en-US" sz="2600" dirty="0"/>
          </a:p>
        </p:txBody>
      </p:sp>
      <p:sp>
        <p:nvSpPr>
          <p:cNvPr id="17" name="Text 14"/>
          <p:cNvSpPr txBox="1"/>
          <p:nvPr/>
        </p:nvSpPr>
        <p:spPr>
          <a:xfrm>
            <a:off x="6995160" y="5166360"/>
            <a:ext cx="4297680" cy="1600200"/>
          </a:xfrm>
          <a:prstGeom prst="rect">
            <a:avLst/>
          </a:prstGeom>
          <a:noFill/>
          <a:ln/>
        </p:spPr>
        <p:txBody>
          <a:bodyPr wrap="square" lIns="0" tIns="0" rIns="0" bIns="0" rtlCol="0" anchor="t"/>
          <a:lstStyle/>
          <a:p>
            <a:pPr indent="0" marL="0">
              <a:lnSpc>
                <a:spcPct val="125000"/>
              </a:lnSpc>
              <a:buNone/>
            </a:pPr>
            <a:r>
              <a:rPr lang="en-US" sz="2200" dirty="0">
                <a:solidFill>
                  <a:srgbClr val="5A6571"/>
                </a:solidFill>
                <a:latin typeface="Futura" pitchFamily="34" charset="0"/>
                <a:ea typeface="Futura" pitchFamily="34" charset="-122"/>
                <a:cs typeface="Futura" pitchFamily="34" charset="-120"/>
              </a:rPr>
              <a:t>Find the decisions and open questions, make an action-item table, then draft a reply from your outline.</a:t>
            </a:r>
            <a:endParaRPr lang="en-US" sz="2200" dirty="0"/>
          </a:p>
        </p:txBody>
      </p:sp>
      <p:sp>
        <p:nvSpPr>
          <p:cNvPr id="18" name="Shape 15"/>
          <p:cNvSpPr/>
          <p:nvPr/>
        </p:nvSpPr>
        <p:spPr>
          <a:xfrm>
            <a:off x="12230100" y="3931920"/>
            <a:ext cx="5029200" cy="3017520"/>
          </a:xfrm>
          <a:prstGeom prst="rect">
            <a:avLst/>
          </a:prstGeom>
          <a:solidFill>
            <a:srgbClr val="FFFFFF"/>
          </a:solidFill>
          <a:ln w="9525">
            <a:solidFill>
              <a:srgbClr val="D0D3D4"/>
            </a:solidFill>
            <a:prstDash val="solid"/>
          </a:ln>
        </p:spPr>
      </p:sp>
      <p:sp>
        <p:nvSpPr>
          <p:cNvPr id="19" name="Shape 16"/>
          <p:cNvSpPr/>
          <p:nvPr/>
        </p:nvSpPr>
        <p:spPr>
          <a:xfrm>
            <a:off x="12230100" y="3931920"/>
            <a:ext cx="5029200" cy="91440"/>
          </a:xfrm>
          <a:prstGeom prst="rect">
            <a:avLst/>
          </a:prstGeom>
          <a:solidFill>
            <a:srgbClr val="FFC600"/>
          </a:solidFill>
          <a:ln/>
        </p:spPr>
      </p:sp>
      <p:sp>
        <p:nvSpPr>
          <p:cNvPr id="20" name="Text 17"/>
          <p:cNvSpPr txBox="1"/>
          <p:nvPr/>
        </p:nvSpPr>
        <p:spPr>
          <a:xfrm>
            <a:off x="12595860" y="4251960"/>
            <a:ext cx="4297680" cy="868680"/>
          </a:xfrm>
          <a:prstGeom prst="rect">
            <a:avLst/>
          </a:prstGeom>
          <a:noFill/>
          <a:ln/>
        </p:spPr>
        <p:txBody>
          <a:bodyPr wrap="square" lIns="0" tIns="0" rIns="0" bIns="0" rtlCol="0" anchor="t">
            <a:normAutofit/>
          </a:bodyPr>
          <a:lstStyle/>
          <a:p>
            <a:pPr indent="0" marL="0">
              <a:buNone/>
            </a:pPr>
            <a:r>
              <a:rPr lang="en-US" sz="2600" b="1" dirty="0">
                <a:solidFill>
                  <a:srgbClr val="07294D"/>
                </a:solidFill>
                <a:latin typeface="Georgia" pitchFamily="34" charset="0"/>
                <a:ea typeface="Georgia" pitchFamily="34" charset="-122"/>
                <a:cs typeface="Georgia" pitchFamily="34" charset="-120"/>
              </a:rPr>
              <a:t>Job C · A Spreadsheet</a:t>
            </a:r>
            <a:endParaRPr lang="en-US" sz="2600" dirty="0"/>
          </a:p>
        </p:txBody>
      </p:sp>
      <p:sp>
        <p:nvSpPr>
          <p:cNvPr id="21" name="Text 18"/>
          <p:cNvSpPr txBox="1"/>
          <p:nvPr/>
        </p:nvSpPr>
        <p:spPr>
          <a:xfrm>
            <a:off x="12595860" y="5166360"/>
            <a:ext cx="4297680" cy="1600200"/>
          </a:xfrm>
          <a:prstGeom prst="rect">
            <a:avLst/>
          </a:prstGeom>
          <a:noFill/>
          <a:ln/>
        </p:spPr>
        <p:txBody>
          <a:bodyPr wrap="square" lIns="0" tIns="0" rIns="0" bIns="0" rtlCol="0" anchor="t"/>
          <a:lstStyle/>
          <a:p>
            <a:pPr indent="0" marL="0">
              <a:lnSpc>
                <a:spcPct val="125000"/>
              </a:lnSpc>
              <a:buNone/>
            </a:pPr>
            <a:r>
              <a:rPr lang="en-US" sz="2200" dirty="0">
                <a:solidFill>
                  <a:srgbClr val="5A6571"/>
                </a:solidFill>
                <a:latin typeface="Futura" pitchFamily="34" charset="0"/>
                <a:ea typeface="Futura" pitchFamily="34" charset="-122"/>
                <a:cs typeface="Futura" pitchFamily="34" charset="-120"/>
              </a:rPr>
              <a:t>Find what stands out, get an Excel formula to flag rows, pick a chart.</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16.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17.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18.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ivate/tmp/claude-1279606903/-Users-daq26-Library-CloudStorage-OneDrive-DrexelUniversity-Anthropic-AI-for-UH-Course-workshop-website/f22b16b1-71f0-4e6b-b603-aa7f51f0b99e/scratchpad/w2img/s19.pn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28700" y="868680"/>
            <a:ext cx="16230600" cy="274320"/>
          </a:xfrm>
          <a:prstGeom prst="rect">
            <a:avLst/>
          </a:prstGeom>
          <a:noFill/>
          <a:ln/>
        </p:spPr>
        <p:txBody>
          <a:bodyPr wrap="square" lIns="0" tIns="0" rIns="0" bIns="0" rtlCol="0" anchor="t"/>
          <a:lstStyle/>
          <a:p>
            <a:pPr indent="0" marL="0">
              <a:buNone/>
            </a:pPr>
            <a:r>
              <a:rPr lang="en-US" sz="1800" b="1" spc="300" kern="0" dirty="0">
                <a:solidFill>
                  <a:srgbClr val="006699"/>
                </a:solidFill>
                <a:latin typeface="Futura" pitchFamily="34" charset="0"/>
                <a:ea typeface="Futura" pitchFamily="34" charset="-122"/>
                <a:cs typeface="Futura" pitchFamily="34" charset="-120"/>
              </a:rPr>
              <a:t>WRAP-UP</a:t>
            </a:r>
            <a:endParaRPr lang="en-US" sz="1800" dirty="0"/>
          </a:p>
        </p:txBody>
      </p:sp>
      <p:sp>
        <p:nvSpPr>
          <p:cNvPr id="3" name="Text 1"/>
          <p:cNvSpPr txBox="1"/>
          <p:nvPr/>
        </p:nvSpPr>
        <p:spPr>
          <a:xfrm>
            <a:off x="1028700" y="1188720"/>
            <a:ext cx="16230600" cy="822960"/>
          </a:xfrm>
          <a:prstGeom prst="rect">
            <a:avLst/>
          </a:prstGeom>
          <a:noFill/>
          <a:ln/>
        </p:spPr>
        <p:txBody>
          <a:bodyPr wrap="square" lIns="0" tIns="0" rIns="0" bIns="0" rtlCol="0" anchor="ctr"/>
          <a:lstStyle/>
          <a:p>
            <a:pPr indent="0" marL="0">
              <a:buNone/>
            </a:pPr>
            <a:r>
              <a:rPr lang="en-US" sz="5500" b="1" dirty="0">
                <a:solidFill>
                  <a:srgbClr val="07294D"/>
                </a:solidFill>
                <a:latin typeface="Georgia" pitchFamily="34" charset="0"/>
                <a:ea typeface="Georgia" pitchFamily="34" charset="-122"/>
                <a:cs typeface="Georgia" pitchFamily="34" charset="-120"/>
              </a:rPr>
              <a:t>What to Take Away</a:t>
            </a:r>
            <a:endParaRPr lang="en-US" sz="5500" dirty="0"/>
          </a:p>
        </p:txBody>
      </p:sp>
      <p:sp>
        <p:nvSpPr>
          <p:cNvPr id="4" name="Shape 2"/>
          <p:cNvSpPr/>
          <p:nvPr/>
        </p:nvSpPr>
        <p:spPr>
          <a:xfrm>
            <a:off x="1028700" y="2103120"/>
            <a:ext cx="777240" cy="73152"/>
          </a:xfrm>
          <a:prstGeom prst="rect">
            <a:avLst/>
          </a:prstGeom>
          <a:solidFill>
            <a:srgbClr val="FFC600"/>
          </a:solidFill>
          <a:ln/>
        </p:spPr>
      </p:sp>
      <p:sp>
        <p:nvSpPr>
          <p:cNvPr id="5" name="Shape 3"/>
          <p:cNvSpPr/>
          <p:nvPr/>
        </p:nvSpPr>
        <p:spPr>
          <a:xfrm>
            <a:off x="1028700" y="9646920"/>
            <a:ext cx="16230600" cy="0"/>
          </a:xfrm>
          <a:prstGeom prst="line">
            <a:avLst/>
          </a:prstGeom>
          <a:noFill/>
          <a:ln w="9525">
            <a:solidFill>
              <a:srgbClr val="D0D3D4"/>
            </a:solidFill>
            <a:prstDash val="solid"/>
          </a:ln>
        </p:spPr>
      </p:sp>
      <p:sp>
        <p:nvSpPr>
          <p:cNvPr id="6" name="Text 4"/>
          <p:cNvSpPr txBox="1"/>
          <p:nvPr/>
        </p:nvSpPr>
        <p:spPr>
          <a:xfrm>
            <a:off x="1028700" y="9784080"/>
            <a:ext cx="7315200" cy="274320"/>
          </a:xfrm>
          <a:prstGeom prst="rect">
            <a:avLst/>
          </a:prstGeom>
          <a:noFill/>
          <a:ln/>
        </p:spPr>
        <p:txBody>
          <a:bodyPr wrap="square" lIns="0" tIns="0" rIns="0" bIns="0" rtlCol="0" anchor="t"/>
          <a:lstStyle/>
          <a:p>
            <a:pPr indent="0" marL="0">
              <a:buNone/>
            </a:pPr>
            <a:r>
              <a:rPr lang="en-US" sz="1400" b="1" dirty="0">
                <a:solidFill>
                  <a:srgbClr val="07294D"/>
                </a:solidFill>
                <a:latin typeface="Futura" pitchFamily="34" charset="0"/>
                <a:ea typeface="Futura" pitchFamily="34" charset="-122"/>
                <a:cs typeface="Futura" pitchFamily="34" charset="-120"/>
              </a:rPr>
              <a:t>Environmental &amp; Occupational Health</a:t>
            </a:r>
            <a:endParaRPr lang="en-US" sz="1400" dirty="0"/>
          </a:p>
        </p:txBody>
      </p:sp>
      <p:sp>
        <p:nvSpPr>
          <p:cNvPr id="7" name="Text 5"/>
          <p:cNvSpPr txBox="1"/>
          <p:nvPr/>
        </p:nvSpPr>
        <p:spPr>
          <a:xfrm>
            <a:off x="9944100" y="9784080"/>
            <a:ext cx="7315200" cy="274320"/>
          </a:xfrm>
          <a:prstGeom prst="rect">
            <a:avLst/>
          </a:prstGeom>
          <a:noFill/>
          <a:ln/>
        </p:spPr>
        <p:txBody>
          <a:bodyPr wrap="square" lIns="0" tIns="0" rIns="0" bIns="0" rtlCol="0" anchor="t"/>
          <a:lstStyle/>
          <a:p>
            <a:pPr algn="r" indent="0" marL="0">
              <a:buNone/>
            </a:pPr>
            <a:r>
              <a:rPr lang="en-US" sz="1400" dirty="0">
                <a:solidFill>
                  <a:srgbClr val="5A6571"/>
                </a:solidFill>
                <a:latin typeface="Futura" pitchFamily="34" charset="0"/>
                <a:ea typeface="Futura" pitchFamily="34" charset="-122"/>
                <a:cs typeface="Futura" pitchFamily="34" charset="-120"/>
              </a:rPr>
              <a:t>Dornsife School of Public Health</a:t>
            </a:r>
            <a:endParaRPr lang="en-US" sz="1400" dirty="0"/>
          </a:p>
        </p:txBody>
      </p:sp>
      <p:sp>
        <p:nvSpPr>
          <p:cNvPr id="9" name="Text 6"/>
          <p:cNvSpPr txBox="1"/>
          <p:nvPr/>
        </p:nvSpPr>
        <p:spPr>
          <a:xfrm>
            <a:off x="1028700" y="2697480"/>
            <a:ext cx="15544800" cy="731520"/>
          </a:xfrm>
          <a:prstGeom prst="rect">
            <a:avLst/>
          </a:prstGeom>
          <a:noFill/>
          <a:ln/>
        </p:spPr>
        <p:txBody>
          <a:bodyPr wrap="square" lIns="0" tIns="0" rIns="0" bIns="0" rtlCol="0" anchor="t"/>
          <a:lstStyle/>
          <a:p>
            <a:pPr indent="0" marL="0">
              <a:buNone/>
            </a:pPr>
            <a:r>
              <a:rPr lang="en-US" sz="2900" dirty="0">
                <a:solidFill>
                  <a:srgbClr val="1C2530"/>
                </a:solidFill>
                <a:latin typeface="Futura" pitchFamily="34" charset="0"/>
                <a:ea typeface="Futura" pitchFamily="34" charset="-122"/>
                <a:cs typeface="Futura" pitchFamily="34" charset="-120"/>
              </a:rPr>
              <a:t>Plan first. Then AI drafts from your outline, or refines what you wrote. Then you check it.</a:t>
            </a:r>
            <a:endParaRPr lang="en-US" sz="2900" dirty="0"/>
          </a:p>
        </p:txBody>
      </p:sp>
      <p:sp>
        <p:nvSpPr>
          <p:cNvPr id="10" name="Text 7"/>
          <p:cNvSpPr txBox="1"/>
          <p:nvPr/>
        </p:nvSpPr>
        <p:spPr>
          <a:xfrm>
            <a:off x="1028700" y="3749040"/>
            <a:ext cx="15544800" cy="3840480"/>
          </a:xfrm>
          <a:prstGeom prst="rect">
            <a:avLst/>
          </a:prstGeom>
          <a:noFill/>
          <a:ln/>
        </p:spPr>
        <p:txBody>
          <a:bodyPr wrap="square" lIns="0" tIns="0" rIns="0" bIns="0" rtlCol="0" anchor="t"/>
          <a:lstStyle/>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Routine and low stakes: AI drafts from your outline. Your expertise or high stakes: you write, AI refines.</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As an editor, AI tightens language, catches inconsistencies, and finds what's missing. Ask for a list, not a rewrite.</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Before you use it: Verified? Disclosed? Yours?</a:t>
            </a:r>
            <a:endParaRPr lang="en-US" sz="2500" dirty="0"/>
          </a:p>
          <a:p>
            <a:pPr marL="279400" indent="-279400">
              <a:lnSpc>
                <a:spcPct val="120000"/>
              </a:lnSpc>
              <a:spcAft>
                <a:spcPts val="1200"/>
              </a:spcAft>
              <a:buSzPct val="100000"/>
              <a:buChar char="•"/>
            </a:pPr>
            <a:r>
              <a:rPr lang="en-US" sz="2500" dirty="0">
                <a:solidFill>
                  <a:srgbClr val="1C2530"/>
                </a:solidFill>
                <a:latin typeface="Futura" pitchFamily="34" charset="0"/>
                <a:ea typeface="Futura" pitchFamily="34" charset="-122"/>
                <a:cs typeface="Futura" pitchFamily="34" charset="-120"/>
              </a:rPr>
              <a:t>Before Core 3: save two recipes (one draft, one refine) and use one again next week.</a:t>
            </a:r>
            <a:endParaRPr lang="en-US" sz="2500" dirty="0"/>
          </a:p>
        </p:txBody>
      </p:sp>
      <p:sp>
        <p:nvSpPr>
          <p:cNvPr id="11" name="Text 8"/>
          <p:cNvSpPr txBox="1"/>
          <p:nvPr/>
        </p:nvSpPr>
        <p:spPr>
          <a:xfrm>
            <a:off x="1028700" y="7863840"/>
            <a:ext cx="10972800" cy="365760"/>
          </a:xfrm>
          <a:prstGeom prst="rect">
            <a:avLst/>
          </a:prstGeom>
          <a:noFill/>
          <a:ln/>
        </p:spPr>
        <p:txBody>
          <a:bodyPr wrap="square" lIns="0" tIns="0" rIns="0" bIns="0" rtlCol="0" anchor="t"/>
          <a:lstStyle/>
          <a:p>
            <a:pPr indent="0" marL="0">
              <a:buNone/>
            </a:pPr>
            <a:r>
              <a:rPr lang="en-US" sz="2000" i="1" dirty="0">
                <a:solidFill>
                  <a:srgbClr val="5A6571"/>
                </a:solidFill>
                <a:latin typeface="Futura" pitchFamily="34" charset="0"/>
                <a:ea typeface="Futura" pitchFamily="34" charset="-122"/>
                <a:cs typeface="Futura" pitchFamily="34" charset="-120"/>
              </a:rPr>
              <a:t>In the Zoom chat: one thing you'll try this week.</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7294D"/>
        </a:solidFill>
      </p:bgPr>
    </p:bg>
    <p:spTree>
      <p:nvGrpSpPr>
        <p:cNvPr id="1" name=""/>
        <p:cNvGrpSpPr/>
        <p:nvPr/>
      </p:nvGrpSpPr>
      <p:grpSpPr>
        <a:xfrm>
          <a:off x="0" y="0"/>
          <a:ext cx="0" cy="0"/>
          <a:chOff x="0" y="0"/>
          <a:chExt cx="0" cy="0"/>
        </a:xfrm>
      </p:grpSpPr>
      <p:sp>
        <p:nvSpPr>
          <p:cNvPr id="2" name="Shape 0"/>
          <p:cNvSpPr/>
          <p:nvPr/>
        </p:nvSpPr>
        <p:spPr>
          <a:xfrm>
            <a:off x="1028700" y="859536"/>
            <a:ext cx="4480560" cy="1005840"/>
          </a:xfrm>
          <a:prstGeom prst="roundRect">
            <a:avLst>
              <a:gd name="adj" fmla="val 10909"/>
            </a:avLst>
          </a:prstGeom>
          <a:solidFill>
            <a:srgbClr val="FFFFFF"/>
          </a:solidFill>
          <a:ln/>
        </p:spPr>
      </p:sp>
      <p:sp>
        <p:nvSpPr>
          <p:cNvPr id="3" name="Text 1"/>
          <p:cNvSpPr txBox="1"/>
          <p:nvPr/>
        </p:nvSpPr>
        <p:spPr>
          <a:xfrm>
            <a:off x="1339596" y="987552"/>
            <a:ext cx="4023360" cy="384048"/>
          </a:xfrm>
          <a:prstGeom prst="rect">
            <a:avLst/>
          </a:prstGeom>
          <a:noFill/>
          <a:ln/>
        </p:spPr>
        <p:txBody>
          <a:bodyPr wrap="square" lIns="0" tIns="0" rIns="0" bIns="0" rtlCol="0" anchor="t"/>
          <a:lstStyle/>
          <a:p>
            <a:pPr indent="0" marL="0">
              <a:buNone/>
            </a:pPr>
            <a:r>
              <a:rPr lang="en-US" sz="2400" b="1" dirty="0">
                <a:solidFill>
                  <a:srgbClr val="07294D"/>
                </a:solidFill>
                <a:latin typeface="Georgia" pitchFamily="34" charset="0"/>
                <a:ea typeface="Georgia" pitchFamily="34" charset="-122"/>
                <a:cs typeface="Georgia" pitchFamily="34" charset="-120"/>
              </a:rPr>
              <a:t>Drexel University</a:t>
            </a:r>
            <a:endParaRPr lang="en-US" sz="2400" dirty="0"/>
          </a:p>
        </p:txBody>
      </p:sp>
      <p:sp>
        <p:nvSpPr>
          <p:cNvPr id="4" name="Text 2"/>
          <p:cNvSpPr txBox="1"/>
          <p:nvPr/>
        </p:nvSpPr>
        <p:spPr>
          <a:xfrm>
            <a:off x="1339596" y="1417320"/>
            <a:ext cx="4023360" cy="310896"/>
          </a:xfrm>
          <a:prstGeom prst="rect">
            <a:avLst/>
          </a:prstGeom>
          <a:noFill/>
          <a:ln/>
        </p:spPr>
        <p:txBody>
          <a:bodyPr wrap="square" lIns="0" tIns="0" rIns="0" bIns="0" rtlCol="0" anchor="t"/>
          <a:lstStyle/>
          <a:p>
            <a:pPr indent="0" marL="0">
              <a:buNone/>
            </a:pPr>
            <a:r>
              <a:rPr lang="en-US" sz="1600" b="1" dirty="0">
                <a:solidFill>
                  <a:srgbClr val="006699"/>
                </a:solidFill>
                <a:latin typeface="Futura" pitchFamily="34" charset="0"/>
                <a:ea typeface="Futura" pitchFamily="34" charset="-122"/>
                <a:cs typeface="Futura" pitchFamily="34" charset="-120"/>
              </a:rPr>
              <a:t>Dornsife School of Public Health</a:t>
            </a:r>
            <a:endParaRPr lang="en-US" sz="1600" dirty="0"/>
          </a:p>
        </p:txBody>
      </p:sp>
      <p:sp>
        <p:nvSpPr>
          <p:cNvPr id="5" name="Text 3"/>
          <p:cNvSpPr txBox="1"/>
          <p:nvPr/>
        </p:nvSpPr>
        <p:spPr>
          <a:xfrm>
            <a:off x="1028700" y="4069080"/>
            <a:ext cx="16230600" cy="274320"/>
          </a:xfrm>
          <a:prstGeom prst="rect">
            <a:avLst/>
          </a:prstGeom>
          <a:noFill/>
          <a:ln/>
        </p:spPr>
        <p:txBody>
          <a:bodyPr wrap="square" lIns="0" tIns="0" rIns="0" bIns="0" rtlCol="0" anchor="t"/>
          <a:lstStyle/>
          <a:p>
            <a:pPr indent="0" marL="0">
              <a:buNone/>
            </a:pPr>
            <a:r>
              <a:rPr lang="en-US" sz="1800" b="1" spc="300" kern="0" dirty="0">
                <a:solidFill>
                  <a:srgbClr val="FFC600"/>
                </a:solidFill>
                <a:latin typeface="Futura" pitchFamily="34" charset="0"/>
                <a:ea typeface="Futura" pitchFamily="34" charset="-122"/>
                <a:cs typeface="Futura" pitchFamily="34" charset="-120"/>
              </a:rPr>
              <a:t>THANK YOU</a:t>
            </a:r>
            <a:endParaRPr lang="en-US" sz="1800" dirty="0"/>
          </a:p>
        </p:txBody>
      </p:sp>
      <p:sp>
        <p:nvSpPr>
          <p:cNvPr id="6" name="Text 4"/>
          <p:cNvSpPr txBox="1"/>
          <p:nvPr/>
        </p:nvSpPr>
        <p:spPr>
          <a:xfrm>
            <a:off x="1028700" y="4434840"/>
            <a:ext cx="16230600" cy="1371600"/>
          </a:xfrm>
          <a:prstGeom prst="rect">
            <a:avLst/>
          </a:prstGeom>
          <a:noFill/>
          <a:ln/>
        </p:spPr>
        <p:txBody>
          <a:bodyPr wrap="square" lIns="0" tIns="0" rIns="0" bIns="0" rtlCol="0" anchor="ctr"/>
          <a:lstStyle/>
          <a:p>
            <a:pPr indent="0" marL="0">
              <a:buNone/>
            </a:pPr>
            <a:r>
              <a:rPr lang="en-US" sz="8900" b="1" dirty="0">
                <a:solidFill>
                  <a:srgbClr val="FFFFFF"/>
                </a:solidFill>
                <a:latin typeface="Georgia" pitchFamily="34" charset="0"/>
                <a:ea typeface="Georgia" pitchFamily="34" charset="-122"/>
                <a:cs typeface="Georgia" pitchFamily="34" charset="-120"/>
              </a:rPr>
              <a:t>Questions &amp; Discussion</a:t>
            </a:r>
            <a:endParaRPr lang="en-US" sz="8900" dirty="0"/>
          </a:p>
        </p:txBody>
      </p:sp>
      <p:sp>
        <p:nvSpPr>
          <p:cNvPr id="7" name="Shape 5"/>
          <p:cNvSpPr/>
          <p:nvPr/>
        </p:nvSpPr>
        <p:spPr>
          <a:xfrm>
            <a:off x="1028700" y="6035040"/>
            <a:ext cx="777240" cy="73152"/>
          </a:xfrm>
          <a:prstGeom prst="rect">
            <a:avLst/>
          </a:prstGeom>
          <a:solidFill>
            <a:srgbClr val="FFC600"/>
          </a:solidFill>
          <a:ln/>
        </p:spPr>
      </p:sp>
      <p:sp>
        <p:nvSpPr>
          <p:cNvPr id="8" name="Text 6"/>
          <p:cNvSpPr txBox="1"/>
          <p:nvPr/>
        </p:nvSpPr>
        <p:spPr>
          <a:xfrm>
            <a:off x="1028700" y="6400800"/>
            <a:ext cx="14173200" cy="914400"/>
          </a:xfrm>
          <a:prstGeom prst="rect">
            <a:avLst/>
          </a:prstGeom>
          <a:noFill/>
          <a:ln/>
        </p:spPr>
        <p:txBody>
          <a:bodyPr wrap="square" lIns="0" tIns="0" rIns="0" bIns="0" rtlCol="0" anchor="t"/>
          <a:lstStyle/>
          <a:p>
            <a:pPr indent="0" marL="0">
              <a:buNone/>
            </a:pPr>
            <a:r>
              <a:rPr lang="en-US" sz="2600" dirty="0">
                <a:solidFill>
                  <a:srgbClr val="C7D2DF"/>
                </a:solidFill>
                <a:latin typeface="Futura" pitchFamily="34" charset="0"/>
                <a:ea typeface="Futura" pitchFamily="34" charset="-122"/>
                <a:cs typeface="Futura" pitchFamily="34" charset="-120"/>
              </a:rPr>
              <a:t>Next: Core 3 — Reusable Assistants. Turn your saved recipes into shared Projects and custom GPTs.</a:t>
            </a:r>
            <a:endParaRPr lang="en-US" sz="2600" dirty="0"/>
          </a:p>
        </p:txBody>
      </p:sp>
      <p:sp>
        <p:nvSpPr>
          <p:cNvPr id="9" name="Text 7"/>
          <p:cNvSpPr txBox="1"/>
          <p:nvPr/>
        </p:nvSpPr>
        <p:spPr>
          <a:xfrm>
            <a:off x="1028700" y="8686800"/>
            <a:ext cx="9144000" cy="365760"/>
          </a:xfrm>
          <a:prstGeom prst="rect">
            <a:avLst/>
          </a:prstGeom>
          <a:noFill/>
          <a:ln/>
        </p:spPr>
        <p:txBody>
          <a:bodyPr wrap="square" lIns="0" tIns="0" rIns="0" bIns="0" rtlCol="0" anchor="t"/>
          <a:lstStyle/>
          <a:p>
            <a:pPr indent="0" marL="0">
              <a:buNone/>
            </a:pPr>
            <a:r>
              <a:rPr lang="en-US" sz="2300" b="1" dirty="0">
                <a:solidFill>
                  <a:srgbClr val="FFFFFF"/>
                </a:solidFill>
                <a:latin typeface="Futura" pitchFamily="34" charset="0"/>
                <a:ea typeface="Futura" pitchFamily="34" charset="-122"/>
                <a:cs typeface="Futura" pitchFamily="34" charset="-120"/>
              </a:rPr>
              <a:t>Alex Quistberg, PhD, MPH</a:t>
            </a:r>
            <a:endParaRPr lang="en-US" sz="2300" dirty="0"/>
          </a:p>
        </p:txBody>
      </p:sp>
      <p:sp>
        <p:nvSpPr>
          <p:cNvPr id="10" name="Text 8"/>
          <p:cNvSpPr txBox="1"/>
          <p:nvPr/>
        </p:nvSpPr>
        <p:spPr>
          <a:xfrm>
            <a:off x="1028700" y="9070848"/>
            <a:ext cx="10058400" cy="320040"/>
          </a:xfrm>
          <a:prstGeom prst="rect">
            <a:avLst/>
          </a:prstGeom>
          <a:noFill/>
          <a:ln/>
        </p:spPr>
        <p:txBody>
          <a:bodyPr wrap="square" lIns="0" tIns="0" rIns="0" bIns="0" rtlCol="0" anchor="t"/>
          <a:lstStyle/>
          <a:p>
            <a:pPr indent="0" marL="0">
              <a:buNone/>
            </a:pPr>
            <a:r>
              <a:rPr lang="en-US" sz="1900" dirty="0">
                <a:solidFill>
                  <a:srgbClr val="9FB3CC"/>
                </a:solidFill>
                <a:latin typeface="Futura" pitchFamily="34" charset="0"/>
                <a:ea typeface="Futura" pitchFamily="34" charset="-122"/>
                <a:cs typeface="Futura" pitchFamily="34" charset="-120"/>
              </a:rPr>
              <a:t>daq26@drexel.edu</a:t>
            </a:r>
            <a:endParaRPr lang="en-US" sz="1900" dirty="0"/>
          </a:p>
        </p:txBody>
      </p:sp>
      <p:sp>
        <p:nvSpPr>
          <p:cNvPr id="11" name="Text 9"/>
          <p:cNvSpPr txBox="1"/>
          <p:nvPr/>
        </p:nvSpPr>
        <p:spPr>
          <a:xfrm>
            <a:off x="9509760" y="9070848"/>
            <a:ext cx="7772400" cy="320040"/>
          </a:xfrm>
          <a:prstGeom prst="rect">
            <a:avLst/>
          </a:prstGeom>
          <a:noFill/>
          <a:ln/>
        </p:spPr>
        <p:txBody>
          <a:bodyPr wrap="square" lIns="0" tIns="0" rIns="0" bIns="0" rtlCol="0" anchor="t"/>
          <a:lstStyle/>
          <a:p>
            <a:pPr algn="r" indent="0" marL="0">
              <a:buNone/>
            </a:pPr>
            <a:r>
              <a:rPr lang="en-US" sz="1900" dirty="0">
                <a:solidFill>
                  <a:srgbClr val="9FB3CC"/>
                </a:solidFill>
                <a:latin typeface="Futura" pitchFamily="34" charset="0"/>
                <a:ea typeface="Futura" pitchFamily="34" charset="-122"/>
                <a:cs typeface="Futura" pitchFamily="34" charset="-120"/>
              </a:rPr>
              <a:t>Department of Environmental &amp; Occupational Health</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Core 2 — Workflow Enhancement</dc:title>
  <dc:subject>PptxGenJS Presentation</dc:subject>
  <dc:creator>Alex Quistberg</dc:creator>
  <cp:lastModifiedBy>Alex Quistberg</cp:lastModifiedBy>
  <cp:revision>1</cp:revision>
  <dcterms:created xsi:type="dcterms:W3CDTF">2026-10-27T13:58:01Z</dcterms:created>
  <dcterms:modified xsi:type="dcterms:W3CDTF">2026-10-27T13:58:01Z</dcterms:modified>
</cp:coreProperties>
</file>